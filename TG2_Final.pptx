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31"/>
  </p:notesMasterIdLst>
  <p:sldIdLst>
    <p:sldId id="256" r:id="rId3"/>
    <p:sldId id="268" r:id="rId4"/>
    <p:sldId id="258" r:id="rId5"/>
    <p:sldId id="259" r:id="rId6"/>
    <p:sldId id="263" r:id="rId7"/>
    <p:sldId id="261" r:id="rId8"/>
    <p:sldId id="265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4" r:id="rId17"/>
    <p:sldId id="285" r:id="rId18"/>
    <p:sldId id="286" r:id="rId19"/>
    <p:sldId id="287" r:id="rId20"/>
    <p:sldId id="288" r:id="rId21"/>
    <p:sldId id="289" r:id="rId22"/>
    <p:sldId id="269" r:id="rId23"/>
    <p:sldId id="270" r:id="rId24"/>
    <p:sldId id="271" r:id="rId25"/>
    <p:sldId id="272" r:id="rId26"/>
    <p:sldId id="273" r:id="rId27"/>
    <p:sldId id="274" r:id="rId28"/>
    <p:sldId id="283" r:id="rId29"/>
    <p:sldId id="282" r:id="rId3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73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83661-B3EA-4B39-BAF1-28720FD69EC1}" type="datetimeFigureOut">
              <a:rPr lang="es-ES" smtClean="0"/>
              <a:t>03/04/2017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71750-F6C3-41EB-A930-59A0FF2393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652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7244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834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6440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5416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2598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0747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1757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4346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0303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684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5062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2624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7368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5609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34324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79371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4794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8282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1623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20730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36132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4953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93770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51104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73785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191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18563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4165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03/04/2017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186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03/04/2017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841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03/04/2017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4223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03/04/2017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459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03/04/2017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3378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03/04/2017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841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03/04/2017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786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03/04/2017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8790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03/04/2017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4842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03/04/2017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428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4B9C-9850-476F-9735-FF3642A58DBA}" type="datetimeFigureOut">
              <a:rPr lang="es-ES" smtClean="0"/>
              <a:t>03/04/2017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9990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961901" y="3785246"/>
            <a:ext cx="6955599" cy="1546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1pPr>
            <a:lvl2pPr lvl="1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2pPr>
            <a:lvl3pPr lvl="2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3pPr>
            <a:lvl4pPr lvl="3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4pPr>
            <a:lvl5pPr lvl="4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5pPr>
            <a:lvl6pPr lvl="5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6pPr>
            <a:lvl7pPr lvl="6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7pPr>
            <a:lvl8pPr lvl="7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8pPr>
            <a:lvl9pPr lvl="8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9pPr>
          </a:lstStyle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7917661" y="3377551"/>
            <a:ext cx="9624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1" name="Shape 11"/>
          <p:cNvSpPr/>
          <p:nvPr/>
        </p:nvSpPr>
        <p:spPr>
          <a:xfrm>
            <a:off x="8879813" y="3377551"/>
            <a:ext cx="9624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2" name="Shape 12"/>
          <p:cNvSpPr/>
          <p:nvPr/>
        </p:nvSpPr>
        <p:spPr>
          <a:xfrm>
            <a:off x="-1" y="3377551"/>
            <a:ext cx="9624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3" name="Shape 13"/>
          <p:cNvSpPr/>
          <p:nvPr/>
        </p:nvSpPr>
        <p:spPr>
          <a:xfrm>
            <a:off x="961899" y="3377551"/>
            <a:ext cx="6955599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741764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0"/>
            <a:ext cx="12192000" cy="53238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914400" y="2111123"/>
            <a:ext cx="10363200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914400" y="3786737"/>
            <a:ext cx="10363200" cy="104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4063604" y="5323801"/>
            <a:ext cx="40636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9" name="Shape 19"/>
          <p:cNvSpPr/>
          <p:nvPr/>
        </p:nvSpPr>
        <p:spPr>
          <a:xfrm>
            <a:off x="8128360" y="5323801"/>
            <a:ext cx="40636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20" name="Shape 20"/>
          <p:cNvSpPr/>
          <p:nvPr/>
        </p:nvSpPr>
        <p:spPr>
          <a:xfrm>
            <a:off x="1" y="5323801"/>
            <a:ext cx="40636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733271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961901" y="3785246"/>
            <a:ext cx="6955599" cy="1546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1pPr>
            <a:lvl2pPr lvl="1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2pPr>
            <a:lvl3pPr lvl="2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3pPr>
            <a:lvl4pPr lvl="3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4pPr>
            <a:lvl5pPr lvl="4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5pPr>
            <a:lvl6pPr lvl="5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6pPr>
            <a:lvl7pPr lvl="6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7pPr>
            <a:lvl8pPr lvl="7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8pPr>
            <a:lvl9pPr lvl="8">
              <a:spcBef>
                <a:spcPts val="0"/>
              </a:spcBef>
              <a:buClr>
                <a:srgbClr val="2185C5"/>
              </a:buClr>
              <a:buSzPct val="100000"/>
              <a:defRPr sz="4800">
                <a:solidFill>
                  <a:srgbClr val="2185C5"/>
                </a:solidFill>
              </a:defRPr>
            </a:lvl9pPr>
          </a:lstStyle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7917661" y="3377551"/>
            <a:ext cx="9624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1" name="Shape 11"/>
          <p:cNvSpPr/>
          <p:nvPr/>
        </p:nvSpPr>
        <p:spPr>
          <a:xfrm>
            <a:off x="8879813" y="3377551"/>
            <a:ext cx="9624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2" name="Shape 12"/>
          <p:cNvSpPr/>
          <p:nvPr/>
        </p:nvSpPr>
        <p:spPr>
          <a:xfrm>
            <a:off x="-1" y="3377551"/>
            <a:ext cx="9624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3" name="Shape 13"/>
          <p:cNvSpPr/>
          <p:nvPr/>
        </p:nvSpPr>
        <p:spPr>
          <a:xfrm>
            <a:off x="961899" y="3377551"/>
            <a:ext cx="6955599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001912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0"/>
            <a:ext cx="12192000" cy="53238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914400" y="2111123"/>
            <a:ext cx="10363200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914400" y="3786737"/>
            <a:ext cx="10363200" cy="104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4063604" y="5323801"/>
            <a:ext cx="40636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9" name="Shape 19"/>
          <p:cNvSpPr/>
          <p:nvPr/>
        </p:nvSpPr>
        <p:spPr>
          <a:xfrm>
            <a:off x="8128360" y="5323801"/>
            <a:ext cx="40636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20" name="Shape 20"/>
          <p:cNvSpPr/>
          <p:nvPr/>
        </p:nvSpPr>
        <p:spPr>
          <a:xfrm>
            <a:off x="1" y="5323801"/>
            <a:ext cx="40636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027971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1191500" y="1600200"/>
            <a:ext cx="41824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5625940" y="1600200"/>
            <a:ext cx="41824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9" name="Shape 39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0" name="Shape 40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1" name="Shape 41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2" name="Shape 42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370960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1191600" y="1600200"/>
            <a:ext cx="3161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400"/>
            </a:lvl2pPr>
            <a:lvl3pPr lvl="2" rtl="0">
              <a:spcBef>
                <a:spcPts val="0"/>
              </a:spcBef>
              <a:buSzPct val="100000"/>
              <a:defRPr sz="1400"/>
            </a:lvl3pPr>
            <a:lvl4pPr lvl="3" rtl="0">
              <a:spcBef>
                <a:spcPts val="0"/>
              </a:spcBef>
              <a:buSzPct val="100000"/>
              <a:defRPr sz="1400"/>
            </a:lvl4pPr>
            <a:lvl5pPr lvl="4" rtl="0">
              <a:spcBef>
                <a:spcPts val="0"/>
              </a:spcBef>
              <a:buSzPct val="100000"/>
              <a:defRPr sz="1400"/>
            </a:lvl5pPr>
            <a:lvl6pPr lvl="5" rtl="0">
              <a:spcBef>
                <a:spcPts val="0"/>
              </a:spcBef>
              <a:buSzPct val="100000"/>
              <a:defRPr sz="1400"/>
            </a:lvl6pPr>
            <a:lvl7pPr lvl="6" rtl="0">
              <a:spcBef>
                <a:spcPts val="0"/>
              </a:spcBef>
              <a:buSzPct val="100000"/>
              <a:defRPr sz="1400"/>
            </a:lvl7pPr>
            <a:lvl8pPr lvl="7" rtl="0">
              <a:spcBef>
                <a:spcPts val="0"/>
              </a:spcBef>
              <a:buSzPct val="100000"/>
              <a:defRPr sz="1400"/>
            </a:lvl8pPr>
            <a:lvl9pPr lvl="8" rtl="0">
              <a:spcBef>
                <a:spcPts val="0"/>
              </a:spcBef>
              <a:buSzPct val="100000"/>
              <a:defRPr sz="14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2"/>
          </p:nvPr>
        </p:nvSpPr>
        <p:spPr>
          <a:xfrm>
            <a:off x="4515204" y="1600200"/>
            <a:ext cx="3161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400"/>
            </a:lvl2pPr>
            <a:lvl3pPr lvl="2" rtl="0">
              <a:spcBef>
                <a:spcPts val="0"/>
              </a:spcBef>
              <a:buSzPct val="100000"/>
              <a:defRPr sz="1400"/>
            </a:lvl3pPr>
            <a:lvl4pPr lvl="3" rtl="0">
              <a:spcBef>
                <a:spcPts val="0"/>
              </a:spcBef>
              <a:buSzPct val="100000"/>
              <a:defRPr sz="1400"/>
            </a:lvl4pPr>
            <a:lvl5pPr lvl="4" rtl="0">
              <a:spcBef>
                <a:spcPts val="0"/>
              </a:spcBef>
              <a:buSzPct val="100000"/>
              <a:defRPr sz="1400"/>
            </a:lvl5pPr>
            <a:lvl6pPr lvl="5" rtl="0">
              <a:spcBef>
                <a:spcPts val="0"/>
              </a:spcBef>
              <a:buSzPct val="100000"/>
              <a:defRPr sz="1400"/>
            </a:lvl6pPr>
            <a:lvl7pPr lvl="6" rtl="0">
              <a:spcBef>
                <a:spcPts val="0"/>
              </a:spcBef>
              <a:buSzPct val="100000"/>
              <a:defRPr sz="1400"/>
            </a:lvl7pPr>
            <a:lvl8pPr lvl="7" rtl="0">
              <a:spcBef>
                <a:spcPts val="0"/>
              </a:spcBef>
              <a:buSzPct val="100000"/>
              <a:defRPr sz="1400"/>
            </a:lvl8pPr>
            <a:lvl9pPr lvl="8" rtl="0">
              <a:spcBef>
                <a:spcPts val="0"/>
              </a:spcBef>
              <a:buSzPct val="100000"/>
              <a:defRPr sz="1400"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body" idx="3"/>
          </p:nvPr>
        </p:nvSpPr>
        <p:spPr>
          <a:xfrm>
            <a:off x="7838809" y="1600200"/>
            <a:ext cx="3161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400"/>
            </a:lvl2pPr>
            <a:lvl3pPr lvl="2" rtl="0">
              <a:spcBef>
                <a:spcPts val="0"/>
              </a:spcBef>
              <a:buSzPct val="100000"/>
              <a:defRPr sz="1400"/>
            </a:lvl3pPr>
            <a:lvl4pPr lvl="3" rtl="0">
              <a:spcBef>
                <a:spcPts val="0"/>
              </a:spcBef>
              <a:buSzPct val="100000"/>
              <a:defRPr sz="1400"/>
            </a:lvl4pPr>
            <a:lvl5pPr lvl="4" rtl="0">
              <a:spcBef>
                <a:spcPts val="0"/>
              </a:spcBef>
              <a:buSzPct val="100000"/>
              <a:defRPr sz="1400"/>
            </a:lvl5pPr>
            <a:lvl6pPr lvl="5" rtl="0">
              <a:spcBef>
                <a:spcPts val="0"/>
              </a:spcBef>
              <a:buSzPct val="100000"/>
              <a:defRPr sz="1400"/>
            </a:lvl6pPr>
            <a:lvl7pPr lvl="6" rtl="0">
              <a:spcBef>
                <a:spcPts val="0"/>
              </a:spcBef>
              <a:buSzPct val="100000"/>
              <a:defRPr sz="1400"/>
            </a:lvl7pPr>
            <a:lvl8pPr lvl="7" rtl="0">
              <a:spcBef>
                <a:spcPts val="0"/>
              </a:spcBef>
              <a:buSzPct val="100000"/>
              <a:defRPr sz="1400"/>
            </a:lvl8pPr>
            <a:lvl9pPr lvl="8" rtl="0">
              <a:spcBef>
                <a:spcPts val="0"/>
              </a:spcBef>
              <a:buSzPct val="100000"/>
              <a:defRPr sz="1400"/>
            </a:lvl9pPr>
          </a:lstStyle>
          <a:p>
            <a:endParaRPr/>
          </a:p>
        </p:txBody>
      </p:sp>
      <p:sp>
        <p:nvSpPr>
          <p:cNvPr id="48" name="Shape 48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49" name="Shape 49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0" name="Shape 50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1" name="Shape 51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563029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4" name="Shape 54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5" name="Shape 55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6" name="Shape 56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57" name="Shape 57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3870050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1191600" y="6199950"/>
            <a:ext cx="8616800" cy="467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360"/>
              </a:spcBef>
              <a:buClr>
                <a:srgbClr val="2185C5"/>
              </a:buClr>
              <a:buSzPct val="100000"/>
              <a:buNone/>
              <a:defRPr sz="1400">
                <a:solidFill>
                  <a:srgbClr val="2185C5"/>
                </a:solidFill>
              </a:defRPr>
            </a:lvl1pPr>
          </a:lstStyle>
          <a:p>
            <a:endParaRPr/>
          </a:p>
        </p:txBody>
      </p:sp>
      <p:sp>
        <p:nvSpPr>
          <p:cNvPr id="60" name="Shape 60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1" name="Shape 61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2" name="Shape 62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3" name="Shape 63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7022495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6" name="Shape 66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7" name="Shape 67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68" name="Shape 68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314329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color background">
    <p:bg>
      <p:bgPr>
        <a:solidFill>
          <a:srgbClr val="2185C5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/>
        </p:nvSpPr>
        <p:spPr>
          <a:xfrm>
            <a:off x="9808489" y="6755101"/>
            <a:ext cx="11915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71" name="Shape 71"/>
          <p:cNvSpPr/>
          <p:nvPr/>
        </p:nvSpPr>
        <p:spPr>
          <a:xfrm>
            <a:off x="11000415" y="6755101"/>
            <a:ext cx="11915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72" name="Shape 72"/>
          <p:cNvSpPr/>
          <p:nvPr/>
        </p:nvSpPr>
        <p:spPr>
          <a:xfrm>
            <a:off x="1" y="6755101"/>
            <a:ext cx="1191599" cy="1028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73" name="Shape 73"/>
          <p:cNvSpPr/>
          <p:nvPr/>
        </p:nvSpPr>
        <p:spPr>
          <a:xfrm>
            <a:off x="1191612" y="6755101"/>
            <a:ext cx="86168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63643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14B9C-9850-476F-9735-FF3642A58DBA}" type="datetimeFigureOut">
              <a:rPr lang="es-ES" smtClean="0"/>
              <a:t>03/04/2017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421E4-21A6-4F4C-81AE-C1F04B5237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385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91600" y="274650"/>
            <a:ext cx="86168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91600" y="1831451"/>
            <a:ext cx="8616800" cy="473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677480"/>
              </a:buClr>
              <a:buSzPct val="100000"/>
              <a:buFont typeface="Lato"/>
              <a:buChar char="▷"/>
              <a:defRPr sz="30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480"/>
              </a:spcBef>
              <a:buClr>
                <a:srgbClr val="677480"/>
              </a:buClr>
              <a:buSzPct val="100000"/>
              <a:buFont typeface="Lato"/>
              <a:defRPr sz="24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480"/>
              </a:spcBef>
              <a:buClr>
                <a:srgbClr val="677480"/>
              </a:buClr>
              <a:buSzPct val="100000"/>
              <a:buFont typeface="Lato"/>
              <a:defRPr sz="24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91425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ctrTitle"/>
          </p:nvPr>
        </p:nvSpPr>
        <p:spPr>
          <a:xfrm>
            <a:off x="2245425" y="3785246"/>
            <a:ext cx="7522923" cy="1546500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/>
          <a:p>
            <a:r>
              <a:rPr lang="es-ES" dirty="0"/>
              <a:t>Monitorización:</a:t>
            </a:r>
            <a:br>
              <a:rPr lang="es-ES" dirty="0"/>
            </a:br>
            <a:r>
              <a:rPr lang="es-ES" dirty="0" err="1"/>
              <a:t>Icinga</a:t>
            </a:r>
            <a:r>
              <a:rPr lang="es-ES" dirty="0"/>
              <a:t> &amp; </a:t>
            </a:r>
            <a:r>
              <a:rPr lang="es-ES" dirty="0" err="1"/>
              <a:t>PandoraFMS</a:t>
            </a:r>
            <a:br>
              <a:rPr lang="es-ES" dirty="0"/>
            </a:br>
            <a:br>
              <a:rPr lang="es-ES" dirty="0"/>
            </a:br>
            <a:r>
              <a:rPr lang="es-ES" dirty="0"/>
              <a:t>TG2</a:t>
            </a:r>
            <a:endParaRPr lang="en" dirty="0"/>
          </a:p>
        </p:txBody>
      </p:sp>
      <p:pic>
        <p:nvPicPr>
          <p:cNvPr id="1026" name="Picture 2" descr="Icing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6140014"/>
            <a:ext cx="1790879" cy="65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2718" y="5777294"/>
            <a:ext cx="1365063" cy="101340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3776" y="469131"/>
            <a:ext cx="2537882" cy="76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85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ctrTitle" idx="4294967295"/>
          </p:nvPr>
        </p:nvSpPr>
        <p:spPr>
          <a:xfrm>
            <a:off x="2440025" y="587125"/>
            <a:ext cx="5561100" cy="15465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n" sz="6000" dirty="0">
                <a:solidFill>
                  <a:srgbClr val="7ECEFD"/>
                </a:solidFill>
              </a:rPr>
              <a:t>¡H</a:t>
            </a:r>
            <a:r>
              <a:rPr lang="es-ES" sz="6000" dirty="0">
                <a:solidFill>
                  <a:srgbClr val="7ECEFD"/>
                </a:solidFill>
              </a:rPr>
              <a:t>ola</a:t>
            </a:r>
            <a:r>
              <a:rPr lang="en" sz="6000" dirty="0">
                <a:solidFill>
                  <a:srgbClr val="7ECEFD"/>
                </a:solidFill>
              </a:rPr>
              <a:t>!</a:t>
            </a:r>
          </a:p>
        </p:txBody>
      </p:sp>
      <p:sp>
        <p:nvSpPr>
          <p:cNvPr id="93" name="Shape 93"/>
          <p:cNvSpPr txBox="1">
            <a:spLocks noGrp="1"/>
          </p:cNvSpPr>
          <p:nvPr>
            <p:ph type="subTitle" idx="4294967295"/>
          </p:nvPr>
        </p:nvSpPr>
        <p:spPr>
          <a:xfrm>
            <a:off x="2440025" y="1957950"/>
            <a:ext cx="5561100" cy="104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ES" sz="4800" b="1" dirty="0">
                <a:solidFill>
                  <a:srgbClr val="2185C5"/>
                </a:solidFill>
              </a:rPr>
              <a:t>Somos el grupo T6</a:t>
            </a:r>
            <a:endParaRPr lang="en" sz="4800" b="1" dirty="0">
              <a:solidFill>
                <a:srgbClr val="2185C5"/>
              </a:solidFill>
            </a:endParaRPr>
          </a:p>
        </p:txBody>
      </p:sp>
      <p:sp>
        <p:nvSpPr>
          <p:cNvPr id="94" name="Shape 94"/>
          <p:cNvSpPr txBox="1">
            <a:spLocks noGrp="1"/>
          </p:cNvSpPr>
          <p:nvPr>
            <p:ph type="body" idx="4294967295"/>
          </p:nvPr>
        </p:nvSpPr>
        <p:spPr>
          <a:xfrm>
            <a:off x="2440025" y="3297675"/>
            <a:ext cx="5561100" cy="2660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s-ES" sz="2400" dirty="0"/>
              <a:t>Integrantes del grupo</a:t>
            </a:r>
            <a:r>
              <a:rPr lang="en" sz="2400" dirty="0"/>
              <a:t>:</a:t>
            </a:r>
          </a:p>
          <a:p>
            <a:pPr>
              <a:spcBef>
                <a:spcPts val="0"/>
              </a:spcBef>
              <a:buNone/>
            </a:pPr>
            <a:endParaRPr lang="en" sz="2400" dirty="0"/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dirty="0"/>
              <a:t>Sergio Martín Míguez (</a:t>
            </a:r>
            <a:r>
              <a:rPr lang="es-ES" dirty="0"/>
              <a:t>Coordinador</a:t>
            </a:r>
            <a:r>
              <a:rPr lang="en" dirty="0"/>
              <a:t>)</a:t>
            </a:r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dirty="0"/>
              <a:t>Iv</a:t>
            </a:r>
            <a:r>
              <a:rPr lang="es-ES" dirty="0"/>
              <a:t>án Alejandro </a:t>
            </a:r>
            <a:r>
              <a:rPr lang="es-ES" dirty="0" err="1"/>
              <a:t>Marugán</a:t>
            </a:r>
            <a:endParaRPr lang="es-ES" dirty="0"/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Daniel Corral García</a:t>
            </a:r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Juan Felipe Martín </a:t>
            </a:r>
            <a:r>
              <a:rPr lang="es-ES" dirty="0" err="1"/>
              <a:t>Martín</a:t>
            </a:r>
            <a:endParaRPr lang="es-ES" dirty="0"/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Silvia del Valle Recio </a:t>
            </a:r>
          </a:p>
          <a:p>
            <a:pPr marL="3429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" sz="18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76424" r="7015"/>
          <a:stretch/>
        </p:blipFill>
        <p:spPr>
          <a:xfrm>
            <a:off x="10400501" y="0"/>
            <a:ext cx="1791499" cy="676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631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2209800" y="2111123"/>
            <a:ext cx="7772400" cy="1546500"/>
          </a:xfrm>
          <a:prstGeom prst="rect">
            <a:avLst/>
          </a:prstGeom>
        </p:spPr>
        <p:txBody>
          <a:bodyPr vert="horz" lIns="91425" tIns="91425" rIns="91425" bIns="91425" rtlCol="0" anchor="b" anchorCtr="0">
            <a:noAutofit/>
          </a:bodyPr>
          <a:lstStyle/>
          <a:p>
            <a:r>
              <a:rPr lang="en" sz="7200" dirty="0">
                <a:solidFill>
                  <a:srgbClr val="7ECEFD"/>
                </a:solidFill>
              </a:rPr>
              <a:t>1.</a:t>
            </a:r>
          </a:p>
          <a:p>
            <a:r>
              <a:rPr lang="es-ES" dirty="0"/>
              <a:t>Descripción ampliada sobre cada tecnología</a:t>
            </a:r>
            <a:endParaRPr lang="en" dirty="0"/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2209800" y="3786737"/>
            <a:ext cx="7772400" cy="1046400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/>
          <a:p>
            <a:r>
              <a:rPr lang="es-ES" dirty="0"/>
              <a:t>Ampliación de conocimientos sobre </a:t>
            </a:r>
            <a:r>
              <a:rPr lang="es-ES" dirty="0" err="1"/>
              <a:t>Icinga</a:t>
            </a:r>
            <a:r>
              <a:rPr lang="es-ES" dirty="0"/>
              <a:t> y </a:t>
            </a:r>
            <a:r>
              <a:rPr lang="es-ES" dirty="0" err="1"/>
              <a:t>PandoraFMS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153355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109" y="1563408"/>
            <a:ext cx="7082580" cy="3983952"/>
          </a:xfrm>
          <a:prstGeom prst="rect">
            <a:avLst/>
          </a:prstGeom>
        </p:spPr>
      </p:pic>
      <p:sp>
        <p:nvSpPr>
          <p:cNvPr id="112" name="Rectangle 111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674237" y="914400"/>
            <a:ext cx="3657600" cy="288757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spcBef>
                <a:spcPct val="0"/>
              </a:spcBef>
            </a:pPr>
            <a:endParaRPr lang="en-US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Descripción ampliada sobre Icinga</a:t>
            </a:r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674237" y="4170501"/>
            <a:ext cx="3657600" cy="1525597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marL="0" indent="0">
              <a:spcBef>
                <a:spcPts val="1000"/>
              </a:spcBef>
            </a:pPr>
            <a:r>
              <a:rPr lang="en-US" sz="2000" kern="1200">
                <a:solidFill>
                  <a:srgbClr val="FF9C27"/>
                </a:solidFill>
                <a:latin typeface="+mn-lt"/>
                <a:ea typeface="+mn-ea"/>
                <a:cs typeface="+mn-cs"/>
              </a:rPr>
              <a:t>Repasando lo que ya sabemos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7044" y="5848400"/>
            <a:ext cx="1792379" cy="65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8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33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269" y="1466849"/>
            <a:ext cx="6993465" cy="3933825"/>
          </a:xfrm>
          <a:prstGeom prst="rect">
            <a:avLst/>
          </a:prstGeom>
        </p:spPr>
      </p:pic>
      <p:sp>
        <p:nvSpPr>
          <p:cNvPr id="136" name="Rectangle 13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Connector 137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674237" y="914400"/>
            <a:ext cx="3657600" cy="288757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spcBef>
                <a:spcPct val="0"/>
              </a:spcBef>
            </a:pPr>
            <a:endParaRPr lang="en-US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Descripción ampliada sobre Icinga</a:t>
            </a:r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674237" y="4170501"/>
            <a:ext cx="3657600" cy="1525597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marL="0" indent="0">
              <a:spcBef>
                <a:spcPts val="1000"/>
              </a:spcBef>
            </a:pPr>
            <a:r>
              <a:rPr lang="en-US" sz="2000" kern="1200">
                <a:solidFill>
                  <a:srgbClr val="FFA232"/>
                </a:solidFill>
                <a:latin typeface="+mn-lt"/>
                <a:ea typeface="+mn-ea"/>
                <a:cs typeface="+mn-cs"/>
              </a:rPr>
              <a:t>Ampliando conocimientos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6471" y="5848400"/>
            <a:ext cx="1792379" cy="65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1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12" name="Rectangle 111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4" name="Straight Connector 113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674237" y="914400"/>
            <a:ext cx="3657600" cy="288757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0000"/>
          </a:bodyPr>
          <a:lstStyle/>
          <a:p>
            <a:pPr>
              <a:spcBef>
                <a:spcPct val="0"/>
              </a:spcBef>
            </a:pPr>
            <a:endParaRPr lang="en-US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Descripción ampliada sobre PandoraFMS</a:t>
            </a:r>
            <a:endParaRPr lang="en-US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674237" y="4170501"/>
            <a:ext cx="3657600" cy="1525597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marL="0" indent="0">
              <a:spcBef>
                <a:spcPts val="1000"/>
              </a:spcBef>
            </a:pPr>
            <a:r>
              <a:rPr lang="en-US" sz="2000" kern="1200">
                <a:solidFill>
                  <a:srgbClr val="FF9C27"/>
                </a:solidFill>
                <a:latin typeface="+mn-lt"/>
                <a:ea typeface="+mn-ea"/>
                <a:cs typeface="+mn-cs"/>
              </a:rPr>
              <a:t>Repasando lo que ya sabemos</a:t>
            </a:r>
            <a:endParaRPr lang="en-US" sz="2000" kern="1200" dirty="0">
              <a:solidFill>
                <a:srgbClr val="FF9C27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276" y="1606794"/>
            <a:ext cx="7069015" cy="397632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1010" y="5821235"/>
            <a:ext cx="1847248" cy="7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13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535" y="1428750"/>
            <a:ext cx="7179731" cy="4038600"/>
          </a:xfrm>
          <a:prstGeom prst="rect">
            <a:avLst/>
          </a:prstGeom>
        </p:spPr>
      </p:pic>
      <p:sp>
        <p:nvSpPr>
          <p:cNvPr id="120" name="Rectangle 11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Connector 121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1010" y="5821235"/>
            <a:ext cx="1847248" cy="798645"/>
          </a:xfrm>
          <a:prstGeom prst="rect">
            <a:avLst/>
          </a:prstGeom>
        </p:spPr>
      </p:pic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674237" y="914400"/>
            <a:ext cx="3657600" cy="288757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spcBef>
                <a:spcPct val="0"/>
              </a:spcBef>
            </a:pPr>
            <a:endParaRPr lang="en-US" sz="44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en-US" sz="4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Descripción ampliada sobre PandoraFMS</a:t>
            </a:r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674237" y="4170501"/>
            <a:ext cx="3657600" cy="1525597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marL="0" indent="0">
              <a:spcBef>
                <a:spcPts val="1000"/>
              </a:spcBef>
            </a:pPr>
            <a:r>
              <a:rPr lang="en-US" sz="2000" kern="1200">
                <a:solidFill>
                  <a:srgbClr val="FFB532"/>
                </a:solidFill>
                <a:latin typeface="+mn-lt"/>
                <a:ea typeface="+mn-ea"/>
                <a:cs typeface="+mn-cs"/>
              </a:rPr>
              <a:t>Ampliando conocimientos</a:t>
            </a:r>
          </a:p>
        </p:txBody>
      </p:sp>
    </p:spTree>
    <p:extLst>
      <p:ext uri="{BB962C8B-B14F-4D97-AF65-F5344CB8AC3E}">
        <p14:creationId xmlns:p14="http://schemas.microsoft.com/office/powerpoint/2010/main" val="1454150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2209800" y="2111123"/>
            <a:ext cx="7772400" cy="1546500"/>
          </a:xfrm>
          <a:prstGeom prst="rect">
            <a:avLst/>
          </a:prstGeom>
        </p:spPr>
        <p:txBody>
          <a:bodyPr vert="horz" lIns="91425" tIns="91425" rIns="91425" bIns="91425" rtlCol="0" anchor="b" anchorCtr="0">
            <a:noAutofit/>
          </a:bodyPr>
          <a:lstStyle/>
          <a:p>
            <a:r>
              <a:rPr lang="en" sz="7200" dirty="0">
                <a:solidFill>
                  <a:srgbClr val="7ECEFD"/>
                </a:solidFill>
              </a:rPr>
              <a:t>2.</a:t>
            </a:r>
          </a:p>
          <a:p>
            <a:r>
              <a:rPr lang="es-ES" dirty="0"/>
              <a:t>Criterios de comparación</a:t>
            </a:r>
            <a:endParaRPr lang="en" dirty="0"/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2209800" y="3786737"/>
            <a:ext cx="7772400" cy="1046400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/>
          <a:p>
            <a:r>
              <a:rPr lang="es-ES" dirty="0" err="1"/>
              <a:t>Icinga</a:t>
            </a:r>
            <a:r>
              <a:rPr lang="es-ES" dirty="0"/>
              <a:t> y Pandora FMS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171116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3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41" name="Freeform: Shape 13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62891" y="5346700"/>
            <a:ext cx="2329109" cy="1511301"/>
          </a:xfrm>
          <a:custGeom>
            <a:avLst/>
            <a:gdLst>
              <a:gd name="connsiteX0" fmla="*/ 697617 w 2329109"/>
              <a:gd name="connsiteY0" fmla="*/ 0 h 1511301"/>
              <a:gd name="connsiteX1" fmla="*/ 2329109 w 2329109"/>
              <a:gd name="connsiteY1" fmla="*/ 0 h 1511301"/>
              <a:gd name="connsiteX2" fmla="*/ 2329109 w 2329109"/>
              <a:gd name="connsiteY2" fmla="*/ 1511301 h 1511301"/>
              <a:gd name="connsiteX3" fmla="*/ 0 w 2329109"/>
              <a:gd name="connsiteY3" fmla="*/ 1511301 h 1511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9109" h="1511301">
                <a:moveTo>
                  <a:pt x="697617" y="0"/>
                </a:moveTo>
                <a:lnTo>
                  <a:pt x="2329109" y="0"/>
                </a:lnTo>
                <a:lnTo>
                  <a:pt x="2329109" y="1511301"/>
                </a:lnTo>
                <a:lnTo>
                  <a:pt x="0" y="1511301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2" name="Freeform: Shape 13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346694"/>
            <a:ext cx="10447252" cy="1511306"/>
          </a:xfrm>
          <a:custGeom>
            <a:avLst/>
            <a:gdLst>
              <a:gd name="connsiteX0" fmla="*/ 0 w 10447252"/>
              <a:gd name="connsiteY0" fmla="*/ 0 h 1511306"/>
              <a:gd name="connsiteX1" fmla="*/ 3100647 w 10447252"/>
              <a:gd name="connsiteY1" fmla="*/ 0 h 1511306"/>
              <a:gd name="connsiteX2" fmla="*/ 3292695 w 10447252"/>
              <a:gd name="connsiteY2" fmla="*/ 0 h 1511306"/>
              <a:gd name="connsiteX3" fmla="*/ 3340133 w 10447252"/>
              <a:gd name="connsiteY3" fmla="*/ 0 h 1511306"/>
              <a:gd name="connsiteX4" fmla="*/ 4310215 w 10447252"/>
              <a:gd name="connsiteY4" fmla="*/ 0 h 1511306"/>
              <a:gd name="connsiteX5" fmla="*/ 5506390 w 10447252"/>
              <a:gd name="connsiteY5" fmla="*/ 0 h 1511306"/>
              <a:gd name="connsiteX6" fmla="*/ 5506390 w 10447252"/>
              <a:gd name="connsiteY6" fmla="*/ 2544 h 1511306"/>
              <a:gd name="connsiteX7" fmla="*/ 5901778 w 10447252"/>
              <a:gd name="connsiteY7" fmla="*/ 2544 h 1511306"/>
              <a:gd name="connsiteX8" fmla="*/ 5901778 w 10447252"/>
              <a:gd name="connsiteY8" fmla="*/ 0 h 1511306"/>
              <a:gd name="connsiteX9" fmla="*/ 10447252 w 10447252"/>
              <a:gd name="connsiteY9" fmla="*/ 0 h 1511306"/>
              <a:gd name="connsiteX10" fmla="*/ 9749635 w 10447252"/>
              <a:gd name="connsiteY10" fmla="*/ 1511301 h 1511306"/>
              <a:gd name="connsiteX11" fmla="*/ 5901779 w 10447252"/>
              <a:gd name="connsiteY11" fmla="*/ 1511301 h 1511306"/>
              <a:gd name="connsiteX12" fmla="*/ 5901779 w 10447252"/>
              <a:gd name="connsiteY12" fmla="*/ 1511304 h 1511306"/>
              <a:gd name="connsiteX13" fmla="*/ 5506390 w 10447252"/>
              <a:gd name="connsiteY13" fmla="*/ 1511304 h 1511306"/>
              <a:gd name="connsiteX14" fmla="*/ 5506390 w 10447252"/>
              <a:gd name="connsiteY14" fmla="*/ 1511306 h 1511306"/>
              <a:gd name="connsiteX15" fmla="*/ 4434058 w 10447252"/>
              <a:gd name="connsiteY15" fmla="*/ 1511306 h 1511306"/>
              <a:gd name="connsiteX16" fmla="*/ 4319855 w 10447252"/>
              <a:gd name="connsiteY16" fmla="*/ 1511306 h 1511306"/>
              <a:gd name="connsiteX17" fmla="*/ 4310215 w 10447252"/>
              <a:gd name="connsiteY17" fmla="*/ 1511306 h 1511306"/>
              <a:gd name="connsiteX18" fmla="*/ 3340133 w 10447252"/>
              <a:gd name="connsiteY18" fmla="*/ 1511306 h 1511306"/>
              <a:gd name="connsiteX19" fmla="*/ 3292695 w 10447252"/>
              <a:gd name="connsiteY19" fmla="*/ 1511306 h 1511306"/>
              <a:gd name="connsiteX20" fmla="*/ 3100647 w 10447252"/>
              <a:gd name="connsiteY20" fmla="*/ 1511306 h 1511306"/>
              <a:gd name="connsiteX21" fmla="*/ 0 w 10447252"/>
              <a:gd name="connsiteY21" fmla="*/ 1511306 h 151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447252" h="1511306">
                <a:moveTo>
                  <a:pt x="0" y="0"/>
                </a:moveTo>
                <a:lnTo>
                  <a:pt x="3100647" y="0"/>
                </a:lnTo>
                <a:lnTo>
                  <a:pt x="3292695" y="0"/>
                </a:lnTo>
                <a:lnTo>
                  <a:pt x="3340133" y="0"/>
                </a:lnTo>
                <a:lnTo>
                  <a:pt x="4310215" y="0"/>
                </a:lnTo>
                <a:lnTo>
                  <a:pt x="5506390" y="0"/>
                </a:lnTo>
                <a:lnTo>
                  <a:pt x="5506390" y="2544"/>
                </a:lnTo>
                <a:lnTo>
                  <a:pt x="5901778" y="2544"/>
                </a:lnTo>
                <a:lnTo>
                  <a:pt x="5901778" y="0"/>
                </a:lnTo>
                <a:lnTo>
                  <a:pt x="10447252" y="0"/>
                </a:lnTo>
                <a:lnTo>
                  <a:pt x="9749635" y="1511301"/>
                </a:lnTo>
                <a:lnTo>
                  <a:pt x="5901779" y="1511301"/>
                </a:lnTo>
                <a:lnTo>
                  <a:pt x="5901779" y="1511304"/>
                </a:lnTo>
                <a:lnTo>
                  <a:pt x="5506390" y="1511304"/>
                </a:lnTo>
                <a:lnTo>
                  <a:pt x="5506390" y="1511306"/>
                </a:lnTo>
                <a:lnTo>
                  <a:pt x="4434058" y="1511306"/>
                </a:lnTo>
                <a:lnTo>
                  <a:pt x="4319855" y="1511306"/>
                </a:lnTo>
                <a:lnTo>
                  <a:pt x="4310215" y="1511306"/>
                </a:lnTo>
                <a:lnTo>
                  <a:pt x="3340133" y="1511306"/>
                </a:lnTo>
                <a:lnTo>
                  <a:pt x="3292695" y="1511306"/>
                </a:lnTo>
                <a:lnTo>
                  <a:pt x="3100647" y="1511306"/>
                </a:lnTo>
                <a:lnTo>
                  <a:pt x="0" y="151130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767240" y="5444835"/>
            <a:ext cx="9095651" cy="8302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algn="l">
              <a:lnSpc>
                <a:spcPct val="70000"/>
              </a:lnSpc>
              <a:spcBef>
                <a:spcPct val="0"/>
              </a:spcBef>
            </a:pP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>
              <a:lnSpc>
                <a:spcPct val="70000"/>
              </a:lnSpc>
              <a:spcBef>
                <a:spcPct val="0"/>
              </a:spcBef>
            </a:pP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Criterios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comparación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ambas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tecnologías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767240" y="6275067"/>
            <a:ext cx="9095651" cy="347473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marL="0" indent="0" algn="l">
              <a:spcBef>
                <a:spcPts val="1000"/>
              </a:spcBef>
            </a:pP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Estableciendo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bases de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comparación</a:t>
            </a:r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643" y="162829"/>
            <a:ext cx="6694714" cy="502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008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3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41" name="Freeform: Shape 13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62891" y="5346700"/>
            <a:ext cx="2329109" cy="1511301"/>
          </a:xfrm>
          <a:custGeom>
            <a:avLst/>
            <a:gdLst>
              <a:gd name="connsiteX0" fmla="*/ 697617 w 2329109"/>
              <a:gd name="connsiteY0" fmla="*/ 0 h 1511301"/>
              <a:gd name="connsiteX1" fmla="*/ 2329109 w 2329109"/>
              <a:gd name="connsiteY1" fmla="*/ 0 h 1511301"/>
              <a:gd name="connsiteX2" fmla="*/ 2329109 w 2329109"/>
              <a:gd name="connsiteY2" fmla="*/ 1511301 h 1511301"/>
              <a:gd name="connsiteX3" fmla="*/ 0 w 2329109"/>
              <a:gd name="connsiteY3" fmla="*/ 1511301 h 1511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9109" h="1511301">
                <a:moveTo>
                  <a:pt x="697617" y="0"/>
                </a:moveTo>
                <a:lnTo>
                  <a:pt x="2329109" y="0"/>
                </a:lnTo>
                <a:lnTo>
                  <a:pt x="2329109" y="1511301"/>
                </a:lnTo>
                <a:lnTo>
                  <a:pt x="0" y="1511301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Freeform: Shape 13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346694"/>
            <a:ext cx="10447252" cy="1511306"/>
          </a:xfrm>
          <a:custGeom>
            <a:avLst/>
            <a:gdLst>
              <a:gd name="connsiteX0" fmla="*/ 0 w 10447252"/>
              <a:gd name="connsiteY0" fmla="*/ 0 h 1511306"/>
              <a:gd name="connsiteX1" fmla="*/ 3100647 w 10447252"/>
              <a:gd name="connsiteY1" fmla="*/ 0 h 1511306"/>
              <a:gd name="connsiteX2" fmla="*/ 3292695 w 10447252"/>
              <a:gd name="connsiteY2" fmla="*/ 0 h 1511306"/>
              <a:gd name="connsiteX3" fmla="*/ 3340133 w 10447252"/>
              <a:gd name="connsiteY3" fmla="*/ 0 h 1511306"/>
              <a:gd name="connsiteX4" fmla="*/ 4310215 w 10447252"/>
              <a:gd name="connsiteY4" fmla="*/ 0 h 1511306"/>
              <a:gd name="connsiteX5" fmla="*/ 5506390 w 10447252"/>
              <a:gd name="connsiteY5" fmla="*/ 0 h 1511306"/>
              <a:gd name="connsiteX6" fmla="*/ 5506390 w 10447252"/>
              <a:gd name="connsiteY6" fmla="*/ 2544 h 1511306"/>
              <a:gd name="connsiteX7" fmla="*/ 5901778 w 10447252"/>
              <a:gd name="connsiteY7" fmla="*/ 2544 h 1511306"/>
              <a:gd name="connsiteX8" fmla="*/ 5901778 w 10447252"/>
              <a:gd name="connsiteY8" fmla="*/ 0 h 1511306"/>
              <a:gd name="connsiteX9" fmla="*/ 10447252 w 10447252"/>
              <a:gd name="connsiteY9" fmla="*/ 0 h 1511306"/>
              <a:gd name="connsiteX10" fmla="*/ 9749635 w 10447252"/>
              <a:gd name="connsiteY10" fmla="*/ 1511301 h 1511306"/>
              <a:gd name="connsiteX11" fmla="*/ 5901779 w 10447252"/>
              <a:gd name="connsiteY11" fmla="*/ 1511301 h 1511306"/>
              <a:gd name="connsiteX12" fmla="*/ 5901779 w 10447252"/>
              <a:gd name="connsiteY12" fmla="*/ 1511304 h 1511306"/>
              <a:gd name="connsiteX13" fmla="*/ 5506390 w 10447252"/>
              <a:gd name="connsiteY13" fmla="*/ 1511304 h 1511306"/>
              <a:gd name="connsiteX14" fmla="*/ 5506390 w 10447252"/>
              <a:gd name="connsiteY14" fmla="*/ 1511306 h 1511306"/>
              <a:gd name="connsiteX15" fmla="*/ 4434058 w 10447252"/>
              <a:gd name="connsiteY15" fmla="*/ 1511306 h 1511306"/>
              <a:gd name="connsiteX16" fmla="*/ 4319855 w 10447252"/>
              <a:gd name="connsiteY16" fmla="*/ 1511306 h 1511306"/>
              <a:gd name="connsiteX17" fmla="*/ 4310215 w 10447252"/>
              <a:gd name="connsiteY17" fmla="*/ 1511306 h 1511306"/>
              <a:gd name="connsiteX18" fmla="*/ 3340133 w 10447252"/>
              <a:gd name="connsiteY18" fmla="*/ 1511306 h 1511306"/>
              <a:gd name="connsiteX19" fmla="*/ 3292695 w 10447252"/>
              <a:gd name="connsiteY19" fmla="*/ 1511306 h 1511306"/>
              <a:gd name="connsiteX20" fmla="*/ 3100647 w 10447252"/>
              <a:gd name="connsiteY20" fmla="*/ 1511306 h 1511306"/>
              <a:gd name="connsiteX21" fmla="*/ 0 w 10447252"/>
              <a:gd name="connsiteY21" fmla="*/ 1511306 h 151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447252" h="1511306">
                <a:moveTo>
                  <a:pt x="0" y="0"/>
                </a:moveTo>
                <a:lnTo>
                  <a:pt x="3100647" y="0"/>
                </a:lnTo>
                <a:lnTo>
                  <a:pt x="3292695" y="0"/>
                </a:lnTo>
                <a:lnTo>
                  <a:pt x="3340133" y="0"/>
                </a:lnTo>
                <a:lnTo>
                  <a:pt x="4310215" y="0"/>
                </a:lnTo>
                <a:lnTo>
                  <a:pt x="5506390" y="0"/>
                </a:lnTo>
                <a:lnTo>
                  <a:pt x="5506390" y="2544"/>
                </a:lnTo>
                <a:lnTo>
                  <a:pt x="5901778" y="2544"/>
                </a:lnTo>
                <a:lnTo>
                  <a:pt x="5901778" y="0"/>
                </a:lnTo>
                <a:lnTo>
                  <a:pt x="10447252" y="0"/>
                </a:lnTo>
                <a:lnTo>
                  <a:pt x="9749635" y="1511301"/>
                </a:lnTo>
                <a:lnTo>
                  <a:pt x="5901779" y="1511301"/>
                </a:lnTo>
                <a:lnTo>
                  <a:pt x="5901779" y="1511304"/>
                </a:lnTo>
                <a:lnTo>
                  <a:pt x="5506390" y="1511304"/>
                </a:lnTo>
                <a:lnTo>
                  <a:pt x="5506390" y="1511306"/>
                </a:lnTo>
                <a:lnTo>
                  <a:pt x="4434058" y="1511306"/>
                </a:lnTo>
                <a:lnTo>
                  <a:pt x="4319855" y="1511306"/>
                </a:lnTo>
                <a:lnTo>
                  <a:pt x="4310215" y="1511306"/>
                </a:lnTo>
                <a:lnTo>
                  <a:pt x="3340133" y="1511306"/>
                </a:lnTo>
                <a:lnTo>
                  <a:pt x="3292695" y="1511306"/>
                </a:lnTo>
                <a:lnTo>
                  <a:pt x="3100647" y="1511306"/>
                </a:lnTo>
                <a:lnTo>
                  <a:pt x="0" y="151130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767240" y="5444835"/>
            <a:ext cx="9095651" cy="8302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algn="l">
              <a:lnSpc>
                <a:spcPct val="70000"/>
              </a:lnSpc>
              <a:spcBef>
                <a:spcPct val="0"/>
              </a:spcBef>
            </a:pP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>
              <a:lnSpc>
                <a:spcPct val="70000"/>
              </a:lnSpc>
              <a:spcBef>
                <a:spcPct val="0"/>
              </a:spcBef>
            </a:pP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Criterios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comparación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ambas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tecnologías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767240" y="6275067"/>
            <a:ext cx="9095651" cy="347473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marL="0" indent="0" algn="l">
              <a:spcBef>
                <a:spcPts val="1000"/>
              </a:spcBef>
            </a:pP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Estableciendo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bases de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comparación</a:t>
            </a:r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986" y="138337"/>
            <a:ext cx="6760028" cy="507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326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3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41" name="Freeform: Shape 13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62891" y="5346700"/>
            <a:ext cx="2329109" cy="1511301"/>
          </a:xfrm>
          <a:custGeom>
            <a:avLst/>
            <a:gdLst>
              <a:gd name="connsiteX0" fmla="*/ 697617 w 2329109"/>
              <a:gd name="connsiteY0" fmla="*/ 0 h 1511301"/>
              <a:gd name="connsiteX1" fmla="*/ 2329109 w 2329109"/>
              <a:gd name="connsiteY1" fmla="*/ 0 h 1511301"/>
              <a:gd name="connsiteX2" fmla="*/ 2329109 w 2329109"/>
              <a:gd name="connsiteY2" fmla="*/ 1511301 h 1511301"/>
              <a:gd name="connsiteX3" fmla="*/ 0 w 2329109"/>
              <a:gd name="connsiteY3" fmla="*/ 1511301 h 1511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9109" h="1511301">
                <a:moveTo>
                  <a:pt x="697617" y="0"/>
                </a:moveTo>
                <a:lnTo>
                  <a:pt x="2329109" y="0"/>
                </a:lnTo>
                <a:lnTo>
                  <a:pt x="2329109" y="1511301"/>
                </a:lnTo>
                <a:lnTo>
                  <a:pt x="0" y="1511301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Freeform: Shape 13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346694"/>
            <a:ext cx="10447252" cy="1511306"/>
          </a:xfrm>
          <a:custGeom>
            <a:avLst/>
            <a:gdLst>
              <a:gd name="connsiteX0" fmla="*/ 0 w 10447252"/>
              <a:gd name="connsiteY0" fmla="*/ 0 h 1511306"/>
              <a:gd name="connsiteX1" fmla="*/ 3100647 w 10447252"/>
              <a:gd name="connsiteY1" fmla="*/ 0 h 1511306"/>
              <a:gd name="connsiteX2" fmla="*/ 3292695 w 10447252"/>
              <a:gd name="connsiteY2" fmla="*/ 0 h 1511306"/>
              <a:gd name="connsiteX3" fmla="*/ 3340133 w 10447252"/>
              <a:gd name="connsiteY3" fmla="*/ 0 h 1511306"/>
              <a:gd name="connsiteX4" fmla="*/ 4310215 w 10447252"/>
              <a:gd name="connsiteY4" fmla="*/ 0 h 1511306"/>
              <a:gd name="connsiteX5" fmla="*/ 5506390 w 10447252"/>
              <a:gd name="connsiteY5" fmla="*/ 0 h 1511306"/>
              <a:gd name="connsiteX6" fmla="*/ 5506390 w 10447252"/>
              <a:gd name="connsiteY6" fmla="*/ 2544 h 1511306"/>
              <a:gd name="connsiteX7" fmla="*/ 5901778 w 10447252"/>
              <a:gd name="connsiteY7" fmla="*/ 2544 h 1511306"/>
              <a:gd name="connsiteX8" fmla="*/ 5901778 w 10447252"/>
              <a:gd name="connsiteY8" fmla="*/ 0 h 1511306"/>
              <a:gd name="connsiteX9" fmla="*/ 10447252 w 10447252"/>
              <a:gd name="connsiteY9" fmla="*/ 0 h 1511306"/>
              <a:gd name="connsiteX10" fmla="*/ 9749635 w 10447252"/>
              <a:gd name="connsiteY10" fmla="*/ 1511301 h 1511306"/>
              <a:gd name="connsiteX11" fmla="*/ 5901779 w 10447252"/>
              <a:gd name="connsiteY11" fmla="*/ 1511301 h 1511306"/>
              <a:gd name="connsiteX12" fmla="*/ 5901779 w 10447252"/>
              <a:gd name="connsiteY12" fmla="*/ 1511304 h 1511306"/>
              <a:gd name="connsiteX13" fmla="*/ 5506390 w 10447252"/>
              <a:gd name="connsiteY13" fmla="*/ 1511304 h 1511306"/>
              <a:gd name="connsiteX14" fmla="*/ 5506390 w 10447252"/>
              <a:gd name="connsiteY14" fmla="*/ 1511306 h 1511306"/>
              <a:gd name="connsiteX15" fmla="*/ 4434058 w 10447252"/>
              <a:gd name="connsiteY15" fmla="*/ 1511306 h 1511306"/>
              <a:gd name="connsiteX16" fmla="*/ 4319855 w 10447252"/>
              <a:gd name="connsiteY16" fmla="*/ 1511306 h 1511306"/>
              <a:gd name="connsiteX17" fmla="*/ 4310215 w 10447252"/>
              <a:gd name="connsiteY17" fmla="*/ 1511306 h 1511306"/>
              <a:gd name="connsiteX18" fmla="*/ 3340133 w 10447252"/>
              <a:gd name="connsiteY18" fmla="*/ 1511306 h 1511306"/>
              <a:gd name="connsiteX19" fmla="*/ 3292695 w 10447252"/>
              <a:gd name="connsiteY19" fmla="*/ 1511306 h 1511306"/>
              <a:gd name="connsiteX20" fmla="*/ 3100647 w 10447252"/>
              <a:gd name="connsiteY20" fmla="*/ 1511306 h 1511306"/>
              <a:gd name="connsiteX21" fmla="*/ 0 w 10447252"/>
              <a:gd name="connsiteY21" fmla="*/ 1511306 h 151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447252" h="1511306">
                <a:moveTo>
                  <a:pt x="0" y="0"/>
                </a:moveTo>
                <a:lnTo>
                  <a:pt x="3100647" y="0"/>
                </a:lnTo>
                <a:lnTo>
                  <a:pt x="3292695" y="0"/>
                </a:lnTo>
                <a:lnTo>
                  <a:pt x="3340133" y="0"/>
                </a:lnTo>
                <a:lnTo>
                  <a:pt x="4310215" y="0"/>
                </a:lnTo>
                <a:lnTo>
                  <a:pt x="5506390" y="0"/>
                </a:lnTo>
                <a:lnTo>
                  <a:pt x="5506390" y="2544"/>
                </a:lnTo>
                <a:lnTo>
                  <a:pt x="5901778" y="2544"/>
                </a:lnTo>
                <a:lnTo>
                  <a:pt x="5901778" y="0"/>
                </a:lnTo>
                <a:lnTo>
                  <a:pt x="10447252" y="0"/>
                </a:lnTo>
                <a:lnTo>
                  <a:pt x="9749635" y="1511301"/>
                </a:lnTo>
                <a:lnTo>
                  <a:pt x="5901779" y="1511301"/>
                </a:lnTo>
                <a:lnTo>
                  <a:pt x="5901779" y="1511304"/>
                </a:lnTo>
                <a:lnTo>
                  <a:pt x="5506390" y="1511304"/>
                </a:lnTo>
                <a:lnTo>
                  <a:pt x="5506390" y="1511306"/>
                </a:lnTo>
                <a:lnTo>
                  <a:pt x="4434058" y="1511306"/>
                </a:lnTo>
                <a:lnTo>
                  <a:pt x="4319855" y="1511306"/>
                </a:lnTo>
                <a:lnTo>
                  <a:pt x="4310215" y="1511306"/>
                </a:lnTo>
                <a:lnTo>
                  <a:pt x="3340133" y="1511306"/>
                </a:lnTo>
                <a:lnTo>
                  <a:pt x="3292695" y="1511306"/>
                </a:lnTo>
                <a:lnTo>
                  <a:pt x="3100647" y="1511306"/>
                </a:lnTo>
                <a:lnTo>
                  <a:pt x="0" y="151130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767240" y="5444835"/>
            <a:ext cx="9095651" cy="8302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algn="l">
              <a:lnSpc>
                <a:spcPct val="70000"/>
              </a:lnSpc>
              <a:spcBef>
                <a:spcPct val="0"/>
              </a:spcBef>
            </a:pP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>
              <a:lnSpc>
                <a:spcPct val="70000"/>
              </a:lnSpc>
              <a:spcBef>
                <a:spcPct val="0"/>
              </a:spcBef>
            </a:pP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Criterios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comparación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ambas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tecnologías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767240" y="6275067"/>
            <a:ext cx="9095651" cy="347473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marL="0" indent="0" algn="l">
              <a:spcBef>
                <a:spcPts val="1000"/>
              </a:spcBef>
            </a:pP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Estableciendo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bases de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comparación</a:t>
            </a:r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886" y="205012"/>
            <a:ext cx="6582228" cy="493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82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3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41" name="Freeform: Shape 13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62891" y="5346700"/>
            <a:ext cx="2329109" cy="1511301"/>
          </a:xfrm>
          <a:custGeom>
            <a:avLst/>
            <a:gdLst>
              <a:gd name="connsiteX0" fmla="*/ 697617 w 2329109"/>
              <a:gd name="connsiteY0" fmla="*/ 0 h 1511301"/>
              <a:gd name="connsiteX1" fmla="*/ 2329109 w 2329109"/>
              <a:gd name="connsiteY1" fmla="*/ 0 h 1511301"/>
              <a:gd name="connsiteX2" fmla="*/ 2329109 w 2329109"/>
              <a:gd name="connsiteY2" fmla="*/ 1511301 h 1511301"/>
              <a:gd name="connsiteX3" fmla="*/ 0 w 2329109"/>
              <a:gd name="connsiteY3" fmla="*/ 1511301 h 1511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9109" h="1511301">
                <a:moveTo>
                  <a:pt x="697617" y="0"/>
                </a:moveTo>
                <a:lnTo>
                  <a:pt x="2329109" y="0"/>
                </a:lnTo>
                <a:lnTo>
                  <a:pt x="2329109" y="1511301"/>
                </a:lnTo>
                <a:lnTo>
                  <a:pt x="0" y="1511301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Freeform: Shape 13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346694"/>
            <a:ext cx="10447252" cy="1511306"/>
          </a:xfrm>
          <a:custGeom>
            <a:avLst/>
            <a:gdLst>
              <a:gd name="connsiteX0" fmla="*/ 0 w 10447252"/>
              <a:gd name="connsiteY0" fmla="*/ 0 h 1511306"/>
              <a:gd name="connsiteX1" fmla="*/ 3100647 w 10447252"/>
              <a:gd name="connsiteY1" fmla="*/ 0 h 1511306"/>
              <a:gd name="connsiteX2" fmla="*/ 3292695 w 10447252"/>
              <a:gd name="connsiteY2" fmla="*/ 0 h 1511306"/>
              <a:gd name="connsiteX3" fmla="*/ 3340133 w 10447252"/>
              <a:gd name="connsiteY3" fmla="*/ 0 h 1511306"/>
              <a:gd name="connsiteX4" fmla="*/ 4310215 w 10447252"/>
              <a:gd name="connsiteY4" fmla="*/ 0 h 1511306"/>
              <a:gd name="connsiteX5" fmla="*/ 5506390 w 10447252"/>
              <a:gd name="connsiteY5" fmla="*/ 0 h 1511306"/>
              <a:gd name="connsiteX6" fmla="*/ 5506390 w 10447252"/>
              <a:gd name="connsiteY6" fmla="*/ 2544 h 1511306"/>
              <a:gd name="connsiteX7" fmla="*/ 5901778 w 10447252"/>
              <a:gd name="connsiteY7" fmla="*/ 2544 h 1511306"/>
              <a:gd name="connsiteX8" fmla="*/ 5901778 w 10447252"/>
              <a:gd name="connsiteY8" fmla="*/ 0 h 1511306"/>
              <a:gd name="connsiteX9" fmla="*/ 10447252 w 10447252"/>
              <a:gd name="connsiteY9" fmla="*/ 0 h 1511306"/>
              <a:gd name="connsiteX10" fmla="*/ 9749635 w 10447252"/>
              <a:gd name="connsiteY10" fmla="*/ 1511301 h 1511306"/>
              <a:gd name="connsiteX11" fmla="*/ 5901779 w 10447252"/>
              <a:gd name="connsiteY11" fmla="*/ 1511301 h 1511306"/>
              <a:gd name="connsiteX12" fmla="*/ 5901779 w 10447252"/>
              <a:gd name="connsiteY12" fmla="*/ 1511304 h 1511306"/>
              <a:gd name="connsiteX13" fmla="*/ 5506390 w 10447252"/>
              <a:gd name="connsiteY13" fmla="*/ 1511304 h 1511306"/>
              <a:gd name="connsiteX14" fmla="*/ 5506390 w 10447252"/>
              <a:gd name="connsiteY14" fmla="*/ 1511306 h 1511306"/>
              <a:gd name="connsiteX15" fmla="*/ 4434058 w 10447252"/>
              <a:gd name="connsiteY15" fmla="*/ 1511306 h 1511306"/>
              <a:gd name="connsiteX16" fmla="*/ 4319855 w 10447252"/>
              <a:gd name="connsiteY16" fmla="*/ 1511306 h 1511306"/>
              <a:gd name="connsiteX17" fmla="*/ 4310215 w 10447252"/>
              <a:gd name="connsiteY17" fmla="*/ 1511306 h 1511306"/>
              <a:gd name="connsiteX18" fmla="*/ 3340133 w 10447252"/>
              <a:gd name="connsiteY18" fmla="*/ 1511306 h 1511306"/>
              <a:gd name="connsiteX19" fmla="*/ 3292695 w 10447252"/>
              <a:gd name="connsiteY19" fmla="*/ 1511306 h 1511306"/>
              <a:gd name="connsiteX20" fmla="*/ 3100647 w 10447252"/>
              <a:gd name="connsiteY20" fmla="*/ 1511306 h 1511306"/>
              <a:gd name="connsiteX21" fmla="*/ 0 w 10447252"/>
              <a:gd name="connsiteY21" fmla="*/ 1511306 h 151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447252" h="1511306">
                <a:moveTo>
                  <a:pt x="0" y="0"/>
                </a:moveTo>
                <a:lnTo>
                  <a:pt x="3100647" y="0"/>
                </a:lnTo>
                <a:lnTo>
                  <a:pt x="3292695" y="0"/>
                </a:lnTo>
                <a:lnTo>
                  <a:pt x="3340133" y="0"/>
                </a:lnTo>
                <a:lnTo>
                  <a:pt x="4310215" y="0"/>
                </a:lnTo>
                <a:lnTo>
                  <a:pt x="5506390" y="0"/>
                </a:lnTo>
                <a:lnTo>
                  <a:pt x="5506390" y="2544"/>
                </a:lnTo>
                <a:lnTo>
                  <a:pt x="5901778" y="2544"/>
                </a:lnTo>
                <a:lnTo>
                  <a:pt x="5901778" y="0"/>
                </a:lnTo>
                <a:lnTo>
                  <a:pt x="10447252" y="0"/>
                </a:lnTo>
                <a:lnTo>
                  <a:pt x="9749635" y="1511301"/>
                </a:lnTo>
                <a:lnTo>
                  <a:pt x="5901779" y="1511301"/>
                </a:lnTo>
                <a:lnTo>
                  <a:pt x="5901779" y="1511304"/>
                </a:lnTo>
                <a:lnTo>
                  <a:pt x="5506390" y="1511304"/>
                </a:lnTo>
                <a:lnTo>
                  <a:pt x="5506390" y="1511306"/>
                </a:lnTo>
                <a:lnTo>
                  <a:pt x="4434058" y="1511306"/>
                </a:lnTo>
                <a:lnTo>
                  <a:pt x="4319855" y="1511306"/>
                </a:lnTo>
                <a:lnTo>
                  <a:pt x="4310215" y="1511306"/>
                </a:lnTo>
                <a:lnTo>
                  <a:pt x="3340133" y="1511306"/>
                </a:lnTo>
                <a:lnTo>
                  <a:pt x="3292695" y="1511306"/>
                </a:lnTo>
                <a:lnTo>
                  <a:pt x="3100647" y="1511306"/>
                </a:lnTo>
                <a:lnTo>
                  <a:pt x="0" y="151130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767240" y="5444835"/>
            <a:ext cx="9095651" cy="8302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algn="l">
              <a:lnSpc>
                <a:spcPct val="70000"/>
              </a:lnSpc>
              <a:spcBef>
                <a:spcPct val="0"/>
              </a:spcBef>
            </a:pP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>
              <a:lnSpc>
                <a:spcPct val="70000"/>
              </a:lnSpc>
              <a:spcBef>
                <a:spcPct val="0"/>
              </a:spcBef>
            </a:pP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Criterios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comparación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ambas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tecnologías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767240" y="6275067"/>
            <a:ext cx="9095651" cy="347473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marL="0" indent="0" algn="l">
              <a:spcBef>
                <a:spcPts val="1000"/>
              </a:spcBef>
            </a:pP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Estableciendo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bases de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comparación</a:t>
            </a:r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614" y="237156"/>
            <a:ext cx="6498771" cy="487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25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3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41" name="Freeform: Shape 13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62891" y="5346700"/>
            <a:ext cx="2329109" cy="1511301"/>
          </a:xfrm>
          <a:custGeom>
            <a:avLst/>
            <a:gdLst>
              <a:gd name="connsiteX0" fmla="*/ 697617 w 2329109"/>
              <a:gd name="connsiteY0" fmla="*/ 0 h 1511301"/>
              <a:gd name="connsiteX1" fmla="*/ 2329109 w 2329109"/>
              <a:gd name="connsiteY1" fmla="*/ 0 h 1511301"/>
              <a:gd name="connsiteX2" fmla="*/ 2329109 w 2329109"/>
              <a:gd name="connsiteY2" fmla="*/ 1511301 h 1511301"/>
              <a:gd name="connsiteX3" fmla="*/ 0 w 2329109"/>
              <a:gd name="connsiteY3" fmla="*/ 1511301 h 1511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9109" h="1511301">
                <a:moveTo>
                  <a:pt x="697617" y="0"/>
                </a:moveTo>
                <a:lnTo>
                  <a:pt x="2329109" y="0"/>
                </a:lnTo>
                <a:lnTo>
                  <a:pt x="2329109" y="1511301"/>
                </a:lnTo>
                <a:lnTo>
                  <a:pt x="0" y="1511301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Freeform: Shape 13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346694"/>
            <a:ext cx="10447252" cy="1511306"/>
          </a:xfrm>
          <a:custGeom>
            <a:avLst/>
            <a:gdLst>
              <a:gd name="connsiteX0" fmla="*/ 0 w 10447252"/>
              <a:gd name="connsiteY0" fmla="*/ 0 h 1511306"/>
              <a:gd name="connsiteX1" fmla="*/ 3100647 w 10447252"/>
              <a:gd name="connsiteY1" fmla="*/ 0 h 1511306"/>
              <a:gd name="connsiteX2" fmla="*/ 3292695 w 10447252"/>
              <a:gd name="connsiteY2" fmla="*/ 0 h 1511306"/>
              <a:gd name="connsiteX3" fmla="*/ 3340133 w 10447252"/>
              <a:gd name="connsiteY3" fmla="*/ 0 h 1511306"/>
              <a:gd name="connsiteX4" fmla="*/ 4310215 w 10447252"/>
              <a:gd name="connsiteY4" fmla="*/ 0 h 1511306"/>
              <a:gd name="connsiteX5" fmla="*/ 5506390 w 10447252"/>
              <a:gd name="connsiteY5" fmla="*/ 0 h 1511306"/>
              <a:gd name="connsiteX6" fmla="*/ 5506390 w 10447252"/>
              <a:gd name="connsiteY6" fmla="*/ 2544 h 1511306"/>
              <a:gd name="connsiteX7" fmla="*/ 5901778 w 10447252"/>
              <a:gd name="connsiteY7" fmla="*/ 2544 h 1511306"/>
              <a:gd name="connsiteX8" fmla="*/ 5901778 w 10447252"/>
              <a:gd name="connsiteY8" fmla="*/ 0 h 1511306"/>
              <a:gd name="connsiteX9" fmla="*/ 10447252 w 10447252"/>
              <a:gd name="connsiteY9" fmla="*/ 0 h 1511306"/>
              <a:gd name="connsiteX10" fmla="*/ 9749635 w 10447252"/>
              <a:gd name="connsiteY10" fmla="*/ 1511301 h 1511306"/>
              <a:gd name="connsiteX11" fmla="*/ 5901779 w 10447252"/>
              <a:gd name="connsiteY11" fmla="*/ 1511301 h 1511306"/>
              <a:gd name="connsiteX12" fmla="*/ 5901779 w 10447252"/>
              <a:gd name="connsiteY12" fmla="*/ 1511304 h 1511306"/>
              <a:gd name="connsiteX13" fmla="*/ 5506390 w 10447252"/>
              <a:gd name="connsiteY13" fmla="*/ 1511304 h 1511306"/>
              <a:gd name="connsiteX14" fmla="*/ 5506390 w 10447252"/>
              <a:gd name="connsiteY14" fmla="*/ 1511306 h 1511306"/>
              <a:gd name="connsiteX15" fmla="*/ 4434058 w 10447252"/>
              <a:gd name="connsiteY15" fmla="*/ 1511306 h 1511306"/>
              <a:gd name="connsiteX16" fmla="*/ 4319855 w 10447252"/>
              <a:gd name="connsiteY16" fmla="*/ 1511306 h 1511306"/>
              <a:gd name="connsiteX17" fmla="*/ 4310215 w 10447252"/>
              <a:gd name="connsiteY17" fmla="*/ 1511306 h 1511306"/>
              <a:gd name="connsiteX18" fmla="*/ 3340133 w 10447252"/>
              <a:gd name="connsiteY18" fmla="*/ 1511306 h 1511306"/>
              <a:gd name="connsiteX19" fmla="*/ 3292695 w 10447252"/>
              <a:gd name="connsiteY19" fmla="*/ 1511306 h 1511306"/>
              <a:gd name="connsiteX20" fmla="*/ 3100647 w 10447252"/>
              <a:gd name="connsiteY20" fmla="*/ 1511306 h 1511306"/>
              <a:gd name="connsiteX21" fmla="*/ 0 w 10447252"/>
              <a:gd name="connsiteY21" fmla="*/ 1511306 h 151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447252" h="1511306">
                <a:moveTo>
                  <a:pt x="0" y="0"/>
                </a:moveTo>
                <a:lnTo>
                  <a:pt x="3100647" y="0"/>
                </a:lnTo>
                <a:lnTo>
                  <a:pt x="3292695" y="0"/>
                </a:lnTo>
                <a:lnTo>
                  <a:pt x="3340133" y="0"/>
                </a:lnTo>
                <a:lnTo>
                  <a:pt x="4310215" y="0"/>
                </a:lnTo>
                <a:lnTo>
                  <a:pt x="5506390" y="0"/>
                </a:lnTo>
                <a:lnTo>
                  <a:pt x="5506390" y="2544"/>
                </a:lnTo>
                <a:lnTo>
                  <a:pt x="5901778" y="2544"/>
                </a:lnTo>
                <a:lnTo>
                  <a:pt x="5901778" y="0"/>
                </a:lnTo>
                <a:lnTo>
                  <a:pt x="10447252" y="0"/>
                </a:lnTo>
                <a:lnTo>
                  <a:pt x="9749635" y="1511301"/>
                </a:lnTo>
                <a:lnTo>
                  <a:pt x="5901779" y="1511301"/>
                </a:lnTo>
                <a:lnTo>
                  <a:pt x="5901779" y="1511304"/>
                </a:lnTo>
                <a:lnTo>
                  <a:pt x="5506390" y="1511304"/>
                </a:lnTo>
                <a:lnTo>
                  <a:pt x="5506390" y="1511306"/>
                </a:lnTo>
                <a:lnTo>
                  <a:pt x="4434058" y="1511306"/>
                </a:lnTo>
                <a:lnTo>
                  <a:pt x="4319855" y="1511306"/>
                </a:lnTo>
                <a:lnTo>
                  <a:pt x="4310215" y="1511306"/>
                </a:lnTo>
                <a:lnTo>
                  <a:pt x="3340133" y="1511306"/>
                </a:lnTo>
                <a:lnTo>
                  <a:pt x="3292695" y="1511306"/>
                </a:lnTo>
                <a:lnTo>
                  <a:pt x="3100647" y="1511306"/>
                </a:lnTo>
                <a:lnTo>
                  <a:pt x="0" y="151130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767240" y="5444835"/>
            <a:ext cx="9095651" cy="8302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algn="l">
              <a:lnSpc>
                <a:spcPct val="70000"/>
              </a:lnSpc>
              <a:spcBef>
                <a:spcPct val="0"/>
              </a:spcBef>
            </a:pP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>
              <a:lnSpc>
                <a:spcPct val="70000"/>
              </a:lnSpc>
              <a:spcBef>
                <a:spcPct val="0"/>
              </a:spcBef>
            </a:pP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Criterios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comparación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ambas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tecnologías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767240" y="6275067"/>
            <a:ext cx="9095651" cy="347473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marL="0" indent="0" algn="l">
              <a:spcBef>
                <a:spcPts val="1000"/>
              </a:spcBef>
            </a:pP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Estableciendo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bases de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comparación</a:t>
            </a:r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014" y="239486"/>
            <a:ext cx="6626519" cy="496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5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3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41" name="Freeform: Shape 13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62891" y="5346700"/>
            <a:ext cx="2329109" cy="1511301"/>
          </a:xfrm>
          <a:custGeom>
            <a:avLst/>
            <a:gdLst>
              <a:gd name="connsiteX0" fmla="*/ 697617 w 2329109"/>
              <a:gd name="connsiteY0" fmla="*/ 0 h 1511301"/>
              <a:gd name="connsiteX1" fmla="*/ 2329109 w 2329109"/>
              <a:gd name="connsiteY1" fmla="*/ 0 h 1511301"/>
              <a:gd name="connsiteX2" fmla="*/ 2329109 w 2329109"/>
              <a:gd name="connsiteY2" fmla="*/ 1511301 h 1511301"/>
              <a:gd name="connsiteX3" fmla="*/ 0 w 2329109"/>
              <a:gd name="connsiteY3" fmla="*/ 1511301 h 1511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9109" h="1511301">
                <a:moveTo>
                  <a:pt x="697617" y="0"/>
                </a:moveTo>
                <a:lnTo>
                  <a:pt x="2329109" y="0"/>
                </a:lnTo>
                <a:lnTo>
                  <a:pt x="2329109" y="1511301"/>
                </a:lnTo>
                <a:lnTo>
                  <a:pt x="0" y="1511301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Freeform: Shape 13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346694"/>
            <a:ext cx="10447252" cy="1511306"/>
          </a:xfrm>
          <a:custGeom>
            <a:avLst/>
            <a:gdLst>
              <a:gd name="connsiteX0" fmla="*/ 0 w 10447252"/>
              <a:gd name="connsiteY0" fmla="*/ 0 h 1511306"/>
              <a:gd name="connsiteX1" fmla="*/ 3100647 w 10447252"/>
              <a:gd name="connsiteY1" fmla="*/ 0 h 1511306"/>
              <a:gd name="connsiteX2" fmla="*/ 3292695 w 10447252"/>
              <a:gd name="connsiteY2" fmla="*/ 0 h 1511306"/>
              <a:gd name="connsiteX3" fmla="*/ 3340133 w 10447252"/>
              <a:gd name="connsiteY3" fmla="*/ 0 h 1511306"/>
              <a:gd name="connsiteX4" fmla="*/ 4310215 w 10447252"/>
              <a:gd name="connsiteY4" fmla="*/ 0 h 1511306"/>
              <a:gd name="connsiteX5" fmla="*/ 5506390 w 10447252"/>
              <a:gd name="connsiteY5" fmla="*/ 0 h 1511306"/>
              <a:gd name="connsiteX6" fmla="*/ 5506390 w 10447252"/>
              <a:gd name="connsiteY6" fmla="*/ 2544 h 1511306"/>
              <a:gd name="connsiteX7" fmla="*/ 5901778 w 10447252"/>
              <a:gd name="connsiteY7" fmla="*/ 2544 h 1511306"/>
              <a:gd name="connsiteX8" fmla="*/ 5901778 w 10447252"/>
              <a:gd name="connsiteY8" fmla="*/ 0 h 1511306"/>
              <a:gd name="connsiteX9" fmla="*/ 10447252 w 10447252"/>
              <a:gd name="connsiteY9" fmla="*/ 0 h 1511306"/>
              <a:gd name="connsiteX10" fmla="*/ 9749635 w 10447252"/>
              <a:gd name="connsiteY10" fmla="*/ 1511301 h 1511306"/>
              <a:gd name="connsiteX11" fmla="*/ 5901779 w 10447252"/>
              <a:gd name="connsiteY11" fmla="*/ 1511301 h 1511306"/>
              <a:gd name="connsiteX12" fmla="*/ 5901779 w 10447252"/>
              <a:gd name="connsiteY12" fmla="*/ 1511304 h 1511306"/>
              <a:gd name="connsiteX13" fmla="*/ 5506390 w 10447252"/>
              <a:gd name="connsiteY13" fmla="*/ 1511304 h 1511306"/>
              <a:gd name="connsiteX14" fmla="*/ 5506390 w 10447252"/>
              <a:gd name="connsiteY14" fmla="*/ 1511306 h 1511306"/>
              <a:gd name="connsiteX15" fmla="*/ 4434058 w 10447252"/>
              <a:gd name="connsiteY15" fmla="*/ 1511306 h 1511306"/>
              <a:gd name="connsiteX16" fmla="*/ 4319855 w 10447252"/>
              <a:gd name="connsiteY16" fmla="*/ 1511306 h 1511306"/>
              <a:gd name="connsiteX17" fmla="*/ 4310215 w 10447252"/>
              <a:gd name="connsiteY17" fmla="*/ 1511306 h 1511306"/>
              <a:gd name="connsiteX18" fmla="*/ 3340133 w 10447252"/>
              <a:gd name="connsiteY18" fmla="*/ 1511306 h 1511306"/>
              <a:gd name="connsiteX19" fmla="*/ 3292695 w 10447252"/>
              <a:gd name="connsiteY19" fmla="*/ 1511306 h 1511306"/>
              <a:gd name="connsiteX20" fmla="*/ 3100647 w 10447252"/>
              <a:gd name="connsiteY20" fmla="*/ 1511306 h 1511306"/>
              <a:gd name="connsiteX21" fmla="*/ 0 w 10447252"/>
              <a:gd name="connsiteY21" fmla="*/ 1511306 h 151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447252" h="1511306">
                <a:moveTo>
                  <a:pt x="0" y="0"/>
                </a:moveTo>
                <a:lnTo>
                  <a:pt x="3100647" y="0"/>
                </a:lnTo>
                <a:lnTo>
                  <a:pt x="3292695" y="0"/>
                </a:lnTo>
                <a:lnTo>
                  <a:pt x="3340133" y="0"/>
                </a:lnTo>
                <a:lnTo>
                  <a:pt x="4310215" y="0"/>
                </a:lnTo>
                <a:lnTo>
                  <a:pt x="5506390" y="0"/>
                </a:lnTo>
                <a:lnTo>
                  <a:pt x="5506390" y="2544"/>
                </a:lnTo>
                <a:lnTo>
                  <a:pt x="5901778" y="2544"/>
                </a:lnTo>
                <a:lnTo>
                  <a:pt x="5901778" y="0"/>
                </a:lnTo>
                <a:lnTo>
                  <a:pt x="10447252" y="0"/>
                </a:lnTo>
                <a:lnTo>
                  <a:pt x="9749635" y="1511301"/>
                </a:lnTo>
                <a:lnTo>
                  <a:pt x="5901779" y="1511301"/>
                </a:lnTo>
                <a:lnTo>
                  <a:pt x="5901779" y="1511304"/>
                </a:lnTo>
                <a:lnTo>
                  <a:pt x="5506390" y="1511304"/>
                </a:lnTo>
                <a:lnTo>
                  <a:pt x="5506390" y="1511306"/>
                </a:lnTo>
                <a:lnTo>
                  <a:pt x="4434058" y="1511306"/>
                </a:lnTo>
                <a:lnTo>
                  <a:pt x="4319855" y="1511306"/>
                </a:lnTo>
                <a:lnTo>
                  <a:pt x="4310215" y="1511306"/>
                </a:lnTo>
                <a:lnTo>
                  <a:pt x="3340133" y="1511306"/>
                </a:lnTo>
                <a:lnTo>
                  <a:pt x="3292695" y="1511306"/>
                </a:lnTo>
                <a:lnTo>
                  <a:pt x="3100647" y="1511306"/>
                </a:lnTo>
                <a:lnTo>
                  <a:pt x="0" y="151130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767240" y="5444835"/>
            <a:ext cx="9095651" cy="8302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algn="l">
              <a:lnSpc>
                <a:spcPct val="70000"/>
              </a:lnSpc>
              <a:spcBef>
                <a:spcPct val="0"/>
              </a:spcBef>
            </a:pP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>
              <a:lnSpc>
                <a:spcPct val="70000"/>
              </a:lnSpc>
              <a:spcBef>
                <a:spcPct val="0"/>
              </a:spcBef>
            </a:pP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Criterios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comparación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ambas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tecnologías</a:t>
            </a:r>
            <a:endParaRPr lang="en-US" sz="3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767240" y="6275067"/>
            <a:ext cx="9095651" cy="347473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/>
          <a:p>
            <a:pPr marL="0" indent="0" algn="l">
              <a:spcBef>
                <a:spcPts val="1000"/>
              </a:spcBef>
            </a:pP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Estableciendo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bases de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comparación</a:t>
            </a:r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855" y="237325"/>
            <a:ext cx="6629401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234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2209800" y="2111123"/>
            <a:ext cx="7772400" cy="1546500"/>
          </a:xfrm>
          <a:prstGeom prst="rect">
            <a:avLst/>
          </a:prstGeom>
        </p:spPr>
        <p:txBody>
          <a:bodyPr vert="horz" lIns="91425" tIns="91425" rIns="91425" bIns="91425" rtlCol="0" anchor="b" anchorCtr="0">
            <a:noAutofit/>
          </a:bodyPr>
          <a:lstStyle/>
          <a:p>
            <a:r>
              <a:rPr lang="en" sz="7200" dirty="0">
                <a:solidFill>
                  <a:srgbClr val="7ECEFD"/>
                </a:solidFill>
              </a:rPr>
              <a:t>3.</a:t>
            </a:r>
          </a:p>
          <a:p>
            <a:r>
              <a:rPr lang="es-ES" dirty="0"/>
              <a:t>Evaluación de los criterios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660151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392" y="2522103"/>
            <a:ext cx="2974310" cy="1082488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/>
          </p:nvPr>
        </p:nvGraphicFramePr>
        <p:xfrm>
          <a:off x="5698435" y="212030"/>
          <a:ext cx="5605668" cy="6149024"/>
        </p:xfrm>
        <a:graphic>
          <a:graphicData uri="http://schemas.openxmlformats.org/drawingml/2006/table">
            <a:tbl>
              <a:tblPr firstRow="1" firstCol="1" bandRow="1"/>
              <a:tblGrid>
                <a:gridCol w="2802834">
                  <a:extLst>
                    <a:ext uri="{9D8B030D-6E8A-4147-A177-3AD203B41FA5}">
                      <a16:colId xmlns:a16="http://schemas.microsoft.com/office/drawing/2014/main" val="1602187197"/>
                    </a:ext>
                  </a:extLst>
                </a:gridCol>
                <a:gridCol w="2802834">
                  <a:extLst>
                    <a:ext uri="{9D8B030D-6E8A-4147-A177-3AD203B41FA5}">
                      <a16:colId xmlns:a16="http://schemas.microsoft.com/office/drawing/2014/main" val="3934205334"/>
                    </a:ext>
                  </a:extLst>
                </a:gridCol>
              </a:tblGrid>
              <a:tr h="19215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EVALUACIÓN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487294"/>
                  </a:ext>
                </a:extLst>
              </a:tr>
              <a:tr h="19215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A: Criterios generales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063093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A.1: Autor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Ártica Soluciones Tecnológicas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601521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A.2: Competitividad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994653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A.3: Contacto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0965551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A.4: Soporte técnico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7418353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A.5: Material de apoyo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094827"/>
                  </a:ext>
                </a:extLst>
              </a:tr>
              <a:tr h="19215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B: Criterios de Desarrollo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071993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B.1: Open source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637312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B.2: Lenguaje de programación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Perl, PHP, C++, Javascript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841802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B.3: Versatilidad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9499724"/>
                  </a:ext>
                </a:extLst>
              </a:tr>
              <a:tr h="19215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C: Criterios Técnicos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409609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C.1: Multiplataforma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Sistemas Windows, sistemas Unix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260415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C.2: Instalación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936309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C.3: Configuración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43433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C.4: Almacenamiento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34MB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7472554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C.5: Consumo de recursos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36619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C.6: Usabilidad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45569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C.7: Aprendizaje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908279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C.8: Actualizaciones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489036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C.9: Ciclo de vida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años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5668325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C.10: Seguridad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809059"/>
                  </a:ext>
                </a:extLst>
              </a:tr>
              <a:tr h="19215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D: Criterios Aplicativos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277286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D.1: Módulos propios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8031912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D.2: Grupos de servidores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418211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D.3: Grupos de servicios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704904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D.4: Roles de usuarios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642938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D.5: Alertas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1568875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D.6: Cliente móvil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2469473"/>
                  </a:ext>
                </a:extLst>
              </a:tr>
              <a:tr h="19215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E: Criterios económicos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896107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E.1: Coste de producto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0 €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0270655"/>
                  </a:ext>
                </a:extLst>
              </a:tr>
              <a:tr h="19215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E.2: Coste de licencia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0 €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2335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709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896" y="2402175"/>
            <a:ext cx="2719858" cy="1175912"/>
          </a:xfrm>
          <a:prstGeom prst="rect">
            <a:avLst/>
          </a:prstGeom>
        </p:spPr>
      </p:pic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640012"/>
              </p:ext>
            </p:extLst>
          </p:nvPr>
        </p:nvGraphicFramePr>
        <p:xfrm>
          <a:off x="5687839" y="283686"/>
          <a:ext cx="5377726" cy="6249440"/>
        </p:xfrm>
        <a:graphic>
          <a:graphicData uri="http://schemas.openxmlformats.org/drawingml/2006/table">
            <a:tbl>
              <a:tblPr firstRow="1" firstCol="1" bandRow="1"/>
              <a:tblGrid>
                <a:gridCol w="2688863">
                  <a:extLst>
                    <a:ext uri="{9D8B030D-6E8A-4147-A177-3AD203B41FA5}">
                      <a16:colId xmlns:a16="http://schemas.microsoft.com/office/drawing/2014/main" val="904016943"/>
                    </a:ext>
                  </a:extLst>
                </a:gridCol>
                <a:gridCol w="2688863">
                  <a:extLst>
                    <a:ext uri="{9D8B030D-6E8A-4147-A177-3AD203B41FA5}">
                      <a16:colId xmlns:a16="http://schemas.microsoft.com/office/drawing/2014/main" val="438023908"/>
                    </a:ext>
                  </a:extLst>
                </a:gridCol>
              </a:tblGrid>
              <a:tr h="1952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CRITERIOS</a:t>
                      </a:r>
                      <a:endParaRPr lang="es-ES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EVALUACIÓN</a:t>
                      </a:r>
                      <a:endParaRPr lang="es-ES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593019"/>
                  </a:ext>
                </a:extLst>
              </a:tr>
              <a:tr h="195295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A: Criterios generales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486506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A.1: Autor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8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Ethan</a:t>
                      </a:r>
                      <a:r>
                        <a:rPr lang="es-ES" sz="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ES" sz="8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Galstad</a:t>
                      </a:r>
                      <a:endParaRPr lang="es-ES" sz="9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358915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A.2: Competitividad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53128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A.3: Contacto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385648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A.4: Soporte técnico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344030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A.5: Material de apoyo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683741"/>
                  </a:ext>
                </a:extLst>
              </a:tr>
              <a:tr h="195295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B: Criterios de Desarrollo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913998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B.1: Open source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634863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B.2: Lenguaje de programación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Bash, C++, Perl, Ruby, Python, PHP, C#</a:t>
                      </a:r>
                      <a:endParaRPr lang="es-ES" sz="9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593044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B.3: Versatilidad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5390"/>
                  </a:ext>
                </a:extLst>
              </a:tr>
              <a:tr h="195295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C: Criterios Técnicos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920459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C.1: Multiplataforma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Sistemas Windows, sistemas Unix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059681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C.2: Instalación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587924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C.3: Configuración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847801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C.4: Almacenamiento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20MB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26300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C.5: Consumo de recursos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8638877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C.6: Usabilidad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359621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C.7: Aprendizaje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335077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C.8: Actualizaciones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809006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C.9: Ciclo de vida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años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456263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C.10: Seguridad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090798"/>
                  </a:ext>
                </a:extLst>
              </a:tr>
              <a:tr h="195295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D: Criterios Aplicativos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184512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D.1: Módulos propios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6700793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D.2: Grupos de servidores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874206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D.3: Grupos de servicios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806851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D.4: Roles de usuarios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696801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D.5: Alertas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968765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D.6: Cliente móvil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692516"/>
                  </a:ext>
                </a:extLst>
              </a:tr>
              <a:tr h="195295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Categoría E: Criterios económicos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320591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E.1: Coste de producto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0 €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640926"/>
                  </a:ext>
                </a:extLst>
              </a:tr>
              <a:tr h="19529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 E.2: Coste de licencia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Anexo 1</a:t>
                      </a:r>
                    </a:p>
                  </a:txBody>
                  <a:tcPr marL="56575" marR="56575" marT="0" marB="0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35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689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819" y="414349"/>
            <a:ext cx="2260077" cy="977129"/>
          </a:xfrm>
          <a:prstGeom prst="rect">
            <a:avLst/>
          </a:prstGeom>
        </p:spPr>
      </p:pic>
      <p:pic>
        <p:nvPicPr>
          <p:cNvPr id="5" name="Imagen 4"/>
          <p:cNvPicPr/>
          <p:nvPr/>
        </p:nvPicPr>
        <p:blipFill>
          <a:blip r:embed="rId4"/>
          <a:stretch>
            <a:fillRect/>
          </a:stretch>
        </p:blipFill>
        <p:spPr>
          <a:xfrm>
            <a:off x="1569768" y="1774549"/>
            <a:ext cx="9044181" cy="436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582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2209800" y="2111123"/>
            <a:ext cx="7772400" cy="1546500"/>
          </a:xfrm>
          <a:prstGeom prst="rect">
            <a:avLst/>
          </a:prstGeom>
        </p:spPr>
        <p:txBody>
          <a:bodyPr vert="horz" lIns="91425" tIns="91425" rIns="91425" bIns="91425" rtlCol="0" anchor="b" anchorCtr="0">
            <a:noAutofit/>
          </a:bodyPr>
          <a:lstStyle/>
          <a:p>
            <a:r>
              <a:rPr lang="en" sz="7200" dirty="0">
                <a:solidFill>
                  <a:srgbClr val="7ECEFD"/>
                </a:solidFill>
              </a:rPr>
              <a:t>4.</a:t>
            </a:r>
          </a:p>
          <a:p>
            <a:r>
              <a:rPr lang="es-ES" dirty="0"/>
              <a:t>Comparación de las tecnologías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70527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273723"/>
              </p:ext>
            </p:extLst>
          </p:nvPr>
        </p:nvGraphicFramePr>
        <p:xfrm>
          <a:off x="0" y="0"/>
          <a:ext cx="12191999" cy="6752489"/>
        </p:xfrm>
        <a:graphic>
          <a:graphicData uri="http://schemas.openxmlformats.org/drawingml/2006/table">
            <a:tbl>
              <a:tblPr firstRow="1" firstCol="1" bandRow="1"/>
              <a:tblGrid>
                <a:gridCol w="2588847">
                  <a:extLst>
                    <a:ext uri="{9D8B030D-6E8A-4147-A177-3AD203B41FA5}">
                      <a16:colId xmlns:a16="http://schemas.microsoft.com/office/drawing/2014/main" val="3971768056"/>
                    </a:ext>
                  </a:extLst>
                </a:gridCol>
                <a:gridCol w="1728639">
                  <a:extLst>
                    <a:ext uri="{9D8B030D-6E8A-4147-A177-3AD203B41FA5}">
                      <a16:colId xmlns:a16="http://schemas.microsoft.com/office/drawing/2014/main" val="4254072328"/>
                    </a:ext>
                  </a:extLst>
                </a:gridCol>
                <a:gridCol w="1640622">
                  <a:extLst>
                    <a:ext uri="{9D8B030D-6E8A-4147-A177-3AD203B41FA5}">
                      <a16:colId xmlns:a16="http://schemas.microsoft.com/office/drawing/2014/main" val="2390358060"/>
                    </a:ext>
                  </a:extLst>
                </a:gridCol>
                <a:gridCol w="6233891">
                  <a:extLst>
                    <a:ext uri="{9D8B030D-6E8A-4147-A177-3AD203B41FA5}">
                      <a16:colId xmlns:a16="http://schemas.microsoft.com/office/drawing/2014/main" val="3868499821"/>
                    </a:ext>
                  </a:extLst>
                </a:gridCol>
              </a:tblGrid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CRITERIOS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PandoraFMS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err="1">
                          <a:effectLst/>
                        </a:rPr>
                        <a:t>Icinga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COMENTARIOS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839299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Autor de la herramienta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Ártica ST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Team Icinga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575968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Competitividad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6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3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712946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Contacto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10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6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Pandora ofrece soporte 24/7 mientras que Icinga no.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240351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Soporte técnico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Es más completa en Icinga, incluyendo control remoto.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389440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Material de apoyo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Documentación, webinars, etc.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594606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Open </a:t>
                      </a:r>
                      <a:r>
                        <a:rPr lang="es-ES" sz="1100" dirty="0" err="1">
                          <a:effectLst/>
                        </a:rPr>
                        <a:t>Source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Ambas son Open Source.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59909"/>
                  </a:ext>
                </a:extLst>
              </a:tr>
              <a:tr h="50717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Lenguaje de programación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PHP, PERL, JavaScript, C++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PHP, </a:t>
                      </a:r>
                      <a:r>
                        <a:rPr lang="es-ES" sz="1100" dirty="0" err="1">
                          <a:effectLst/>
                        </a:rPr>
                        <a:t>Bash</a:t>
                      </a:r>
                      <a:r>
                        <a:rPr lang="es-ES" sz="1100" dirty="0">
                          <a:effectLst/>
                        </a:rPr>
                        <a:t>, C++, Perl, Ruby, Python, C#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Lenguajes de programación compatibles.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84798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Versatilidad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Si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Ambas pueden implementar diferentes módulos.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663414"/>
                  </a:ext>
                </a:extLst>
              </a:tr>
              <a:tr h="118913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Multiplataforma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Windows, RedHat, CentOS, Debian, Ubuntu, SLES y OpenSUSE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err="1">
                          <a:effectLst/>
                        </a:rPr>
                        <a:t>Debian</a:t>
                      </a:r>
                      <a:r>
                        <a:rPr lang="es-ES" sz="1100" dirty="0">
                          <a:effectLst/>
                        </a:rPr>
                        <a:t>, Ubuntu, </a:t>
                      </a:r>
                      <a:r>
                        <a:rPr lang="es-ES" sz="1100" dirty="0" err="1">
                          <a:effectLst/>
                        </a:rPr>
                        <a:t>CentOS</a:t>
                      </a:r>
                      <a:r>
                        <a:rPr lang="es-ES" sz="1100" dirty="0">
                          <a:effectLst/>
                        </a:rPr>
                        <a:t>, </a:t>
                      </a:r>
                      <a:r>
                        <a:rPr lang="es-ES" sz="1100" dirty="0" err="1">
                          <a:effectLst/>
                        </a:rPr>
                        <a:t>Fedora</a:t>
                      </a:r>
                      <a:r>
                        <a:rPr lang="es-ES" sz="1100" dirty="0">
                          <a:effectLst/>
                        </a:rPr>
                        <a:t>, SLES, </a:t>
                      </a:r>
                      <a:r>
                        <a:rPr lang="es-ES" sz="1100" dirty="0" err="1">
                          <a:effectLst/>
                        </a:rPr>
                        <a:t>OpenSUSE</a:t>
                      </a:r>
                      <a:r>
                        <a:rPr lang="es-ES" sz="1100" dirty="0">
                          <a:effectLst/>
                        </a:rPr>
                        <a:t>, </a:t>
                      </a:r>
                      <a:r>
                        <a:rPr lang="es-ES" sz="1100" dirty="0" err="1">
                          <a:effectLst/>
                        </a:rPr>
                        <a:t>ArchLinux</a:t>
                      </a:r>
                      <a:r>
                        <a:rPr lang="es-ES" sz="1100" dirty="0">
                          <a:effectLst/>
                        </a:rPr>
                        <a:t>, </a:t>
                      </a:r>
                      <a:r>
                        <a:rPr lang="es-ES" sz="1100" dirty="0" err="1">
                          <a:effectLst/>
                        </a:rPr>
                        <a:t>Gentoo</a:t>
                      </a:r>
                      <a:r>
                        <a:rPr lang="es-ES" sz="1100" dirty="0">
                          <a:effectLst/>
                        </a:rPr>
                        <a:t>, </a:t>
                      </a:r>
                      <a:r>
                        <a:rPr lang="es-ES" sz="1100" dirty="0" err="1">
                          <a:effectLst/>
                        </a:rPr>
                        <a:t>FreeBSD</a:t>
                      </a:r>
                      <a:r>
                        <a:rPr lang="es-ES" sz="1100" dirty="0">
                          <a:effectLst/>
                        </a:rPr>
                        <a:t>, </a:t>
                      </a:r>
                      <a:r>
                        <a:rPr lang="es-ES" sz="1100" dirty="0" err="1">
                          <a:effectLst/>
                        </a:rPr>
                        <a:t>OpenBSD</a:t>
                      </a:r>
                      <a:r>
                        <a:rPr lang="es-ES" sz="1100" dirty="0">
                          <a:effectLst/>
                        </a:rPr>
                        <a:t>, </a:t>
                      </a:r>
                      <a:r>
                        <a:rPr lang="es-ES" sz="1100" dirty="0" err="1">
                          <a:effectLst/>
                        </a:rPr>
                        <a:t>AlpineLinux</a:t>
                      </a:r>
                      <a:r>
                        <a:rPr lang="es-ES" sz="1100" dirty="0">
                          <a:effectLst/>
                        </a:rPr>
                        <a:t>, Windows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Hay mayor multiplataforma con </a:t>
                      </a:r>
                      <a:r>
                        <a:rPr lang="es-ES" sz="1100" dirty="0" err="1">
                          <a:effectLst/>
                        </a:rPr>
                        <a:t>Icinga</a:t>
                      </a:r>
                      <a:r>
                        <a:rPr lang="es-ES" sz="1100" dirty="0">
                          <a:effectLst/>
                        </a:rPr>
                        <a:t>.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780551"/>
                  </a:ext>
                </a:extLst>
              </a:tr>
              <a:tr h="25178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Instalación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Si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En GNU/Linux son repositorios o paquetes .deb, mientras que en Windows son ejecutables .exe.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780594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Configuración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No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018067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Almacenamiento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34MB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20MB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296557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Consumo de recursos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No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No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580809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Usabilidad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3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7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Desde nuestra experiencia propia.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079767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Aprendizaje 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7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3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Desde nuestra experiencia propia.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125236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Actualizaciones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Si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Si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Ambos disponen de actualizaciones.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076588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Ciclo de vida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2 años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0 años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342407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Seguridad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Si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Cada una implementa diferentes medidas de seguridad.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203334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Módulos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No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Pandora sí que permite la opción de crear módulos personalizados.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450579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Grupos de servidores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Si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30179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Grupos de servicios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Si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Si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 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141837"/>
                  </a:ext>
                </a:extLst>
              </a:tr>
              <a:tr h="25178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Roles de usuario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Si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Si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Ambas permiten la creación de diferentes roles de usuario con permisos personalizados.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328566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Alertas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Si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518231"/>
                  </a:ext>
                </a:extLst>
              </a:tr>
              <a:tr h="50717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Cliente móvil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 (Android, iOS, Chrome, Windows, OSX)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No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662181"/>
                  </a:ext>
                </a:extLst>
              </a:tr>
              <a:tr h="2514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Coste de producto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Gratuito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Gratuito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Icinga tiene versión gratuita y PandoraFMS tiene diferentes planes de pago.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961435"/>
                  </a:ext>
                </a:extLst>
              </a:tr>
              <a:tr h="18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Coste de licencia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 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(Anexo)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06" marR="29706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862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78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2209800" y="2111123"/>
            <a:ext cx="7772400" cy="15465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n" sz="7200" dirty="0">
                <a:solidFill>
                  <a:srgbClr val="7ECEFD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5.</a:t>
            </a:r>
          </a:p>
          <a:p>
            <a:r>
              <a:rPr lang="es-ES" dirty="0"/>
              <a:t>Recomendaciones</a:t>
            </a:r>
            <a:endParaRPr lang="en" dirty="0"/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2209800" y="3786737"/>
            <a:ext cx="7772400" cy="104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es-ES" dirty="0"/>
              <a:t>Análisis de diferentes situaciones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240909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2417700" y="274650"/>
            <a:ext cx="6462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s-ES" dirty="0"/>
              <a:t>Situación 1</a:t>
            </a:r>
            <a:endParaRPr lang="en" dirty="0"/>
          </a:p>
        </p:txBody>
      </p:sp>
      <p:pic>
        <p:nvPicPr>
          <p:cNvPr id="35" name="Picture 2" descr="Icing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9376" y="880818"/>
            <a:ext cx="1477518" cy="53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417700" y="2136648"/>
            <a:ext cx="8163214" cy="2325624"/>
          </a:xfrm>
        </p:spPr>
        <p:txBody>
          <a:bodyPr/>
          <a:lstStyle/>
          <a:p>
            <a:pPr marL="285750" indent="-285750"/>
            <a:r>
              <a:rPr lang="es-ES" sz="1800" dirty="0"/>
              <a:t>Servidor: </a:t>
            </a:r>
            <a:r>
              <a:rPr lang="es-ES" sz="1800" dirty="0" err="1"/>
              <a:t>Debian</a:t>
            </a:r>
            <a:endParaRPr lang="es-ES" sz="1800" dirty="0"/>
          </a:p>
          <a:p>
            <a:pPr marL="285750" indent="-285750"/>
            <a:r>
              <a:rPr lang="es-ES" sz="1800" dirty="0"/>
              <a:t>Monitorización: mediante SSH</a:t>
            </a:r>
          </a:p>
          <a:p>
            <a:pPr marL="285750" indent="-285750"/>
            <a:r>
              <a:rPr lang="es-ES" sz="1800" dirty="0"/>
              <a:t>El objetivo es tener un almacenamiento distribuido (Ej. </a:t>
            </a:r>
            <a:r>
              <a:rPr lang="es-ES" sz="1800" dirty="0" err="1"/>
              <a:t>Hadoop</a:t>
            </a:r>
            <a:r>
              <a:rPr lang="es-ES" sz="1800" dirty="0"/>
              <a:t>)</a:t>
            </a:r>
          </a:p>
          <a:p>
            <a:pPr marL="285750" indent="-285750"/>
            <a:r>
              <a:rPr lang="es-ES" sz="1800" dirty="0"/>
              <a:t>Consta de 13 servidores:</a:t>
            </a:r>
          </a:p>
          <a:p>
            <a:pPr marL="285750" indent="-285750"/>
            <a:r>
              <a:rPr lang="es-ES" sz="1800" dirty="0"/>
              <a:t>                1 Monitorización</a:t>
            </a:r>
          </a:p>
          <a:p>
            <a:pPr marL="285750" indent="-285750"/>
            <a:r>
              <a:rPr lang="es-ES" sz="1800" dirty="0"/>
              <a:t>                2 Frontales: reciben todas las peticiones de ingesta.</a:t>
            </a:r>
          </a:p>
          <a:p>
            <a:pPr marL="285750" indent="-285750"/>
            <a:r>
              <a:rPr lang="es-ES" sz="1800" dirty="0"/>
              <a:t>                2 </a:t>
            </a:r>
            <a:r>
              <a:rPr lang="es-ES" sz="1800" dirty="0" err="1"/>
              <a:t>Name</a:t>
            </a:r>
            <a:r>
              <a:rPr lang="es-ES" sz="1800" dirty="0"/>
              <a:t> </a:t>
            </a:r>
            <a:r>
              <a:rPr lang="es-ES" sz="1800" dirty="0" err="1"/>
              <a:t>Nodes</a:t>
            </a:r>
            <a:r>
              <a:rPr lang="es-ES" sz="1800" dirty="0"/>
              <a:t>: guardan todos los metadatos de los data </a:t>
            </a:r>
            <a:r>
              <a:rPr lang="es-ES" sz="1800" dirty="0" err="1"/>
              <a:t>nodes</a:t>
            </a:r>
            <a:r>
              <a:rPr lang="es-ES" sz="1800" dirty="0"/>
              <a:t>.</a:t>
            </a:r>
          </a:p>
          <a:p>
            <a:pPr marL="285750" indent="-285750"/>
            <a:r>
              <a:rPr lang="es-ES" sz="1800" dirty="0"/>
              <a:t>                8 Data </a:t>
            </a:r>
            <a:r>
              <a:rPr lang="es-ES" sz="1800" dirty="0" err="1"/>
              <a:t>Nodes</a:t>
            </a:r>
            <a:r>
              <a:rPr lang="es-ES" sz="1800" dirty="0"/>
              <a:t>: guardan y procesan toda la información.</a:t>
            </a:r>
          </a:p>
          <a:p>
            <a:pPr marL="285750" indent="-285750"/>
            <a:endParaRPr lang="es-ES" dirty="0"/>
          </a:p>
          <a:p>
            <a:pPr marL="285750" indent="-28575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24476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3"/>
          <a:srcRect t="319" b="1"/>
          <a:stretch/>
        </p:blipFill>
        <p:spPr>
          <a:xfrm>
            <a:off x="2972475" y="633985"/>
            <a:ext cx="5353050" cy="5877115"/>
          </a:xfrm>
          <a:prstGeom prst="rect">
            <a:avLst/>
          </a:prstGeom>
        </p:spPr>
      </p:pic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2417700" y="274650"/>
            <a:ext cx="6462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s-ES" dirty="0"/>
              <a:t>Situación 1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740723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2417700" y="274650"/>
            <a:ext cx="6462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s-ES" dirty="0"/>
              <a:t>Situación 1</a:t>
            </a:r>
            <a:endParaRPr lang="en" dirty="0"/>
          </a:p>
        </p:txBody>
      </p:sp>
      <p:sp>
        <p:nvSpPr>
          <p:cNvPr id="3" name="Rectángulo 2"/>
          <p:cNvSpPr/>
          <p:nvPr/>
        </p:nvSpPr>
        <p:spPr>
          <a:xfrm>
            <a:off x="2560320" y="4735138"/>
            <a:ext cx="4572000" cy="12777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>
              <a:lnSpc>
                <a:spcPct val="107000"/>
              </a:lnSpc>
              <a:buFont typeface="Wingdings" panose="05000000000000000000" pitchFamily="2" charset="2"/>
              <a:buChar char="v"/>
            </a:pP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Versatilidad: Alertas propias.</a:t>
            </a:r>
          </a:p>
          <a:p>
            <a:pPr marL="342900" indent="-342900" algn="just">
              <a:lnSpc>
                <a:spcPct val="107000"/>
              </a:lnSpc>
              <a:buFont typeface="Wingdings" panose="05000000000000000000" pitchFamily="2" charset="2"/>
              <a:buChar char="v"/>
            </a:pP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Seguridad: Usar SSH (par de claves) en vez de agente.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Alertas: mandarlas por </a:t>
            </a:r>
            <a:r>
              <a:rPr lang="es-ES" dirty="0" err="1">
                <a:latin typeface="Arial" panose="020B0604020202020204" pitchFamily="34" charset="0"/>
                <a:ea typeface="Calibri" panose="020F0502020204030204" pitchFamily="34" charset="0"/>
              </a:rPr>
              <a:t>Telegram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</a:p>
        </p:txBody>
      </p:sp>
      <p:graphicFrame>
        <p:nvGraphicFramePr>
          <p:cNvPr id="6" name="Shape 172"/>
          <p:cNvGraphicFramePr/>
          <p:nvPr>
            <p:extLst>
              <p:ext uri="{D42A27DB-BD31-4B8C-83A1-F6EECF244321}">
                <p14:modId xmlns:p14="http://schemas.microsoft.com/office/powerpoint/2010/main" val="3799443302"/>
              </p:ext>
            </p:extLst>
          </p:nvPr>
        </p:nvGraphicFramePr>
        <p:xfrm>
          <a:off x="1866900" y="1763485"/>
          <a:ext cx="8322129" cy="262345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74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4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4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3814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s-ES" dirty="0">
                          <a:solidFill>
                            <a:srgbClr val="2185C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Criterios relevantes para la decisión</a:t>
                      </a:r>
                      <a:endParaRPr dirty="0">
                        <a:solidFill>
                          <a:srgbClr val="2185C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>
                      <a:solidFill>
                        <a:srgbClr val="218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dirty="0">
                          <a:solidFill>
                            <a:srgbClr val="2185C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Ventajas </a:t>
                      </a:r>
                      <a:r>
                        <a:rPr lang="es-ES" dirty="0" err="1">
                          <a:solidFill>
                            <a:srgbClr val="2185C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Icinga</a:t>
                      </a:r>
                      <a:endParaRPr lang="en" dirty="0">
                        <a:solidFill>
                          <a:srgbClr val="2185C5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>
                      <a:solidFill>
                        <a:srgbClr val="218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dirty="0">
                          <a:solidFill>
                            <a:srgbClr val="2185C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Ventajas PandoraFMS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>
                      <a:solidFill>
                        <a:srgbClr val="218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548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dirty="0">
                          <a:solidFill>
                            <a:srgbClr val="2185C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B.3. Versatilidad</a:t>
                      </a: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s-ES" sz="1800" b="1" dirty="0">
                          <a:solidFill>
                            <a:srgbClr val="67748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</a:t>
                      </a:r>
                      <a:endParaRPr lang="en" sz="1800" b="1" dirty="0">
                        <a:solidFill>
                          <a:srgbClr val="67748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 b="1" dirty="0">
                          <a:solidFill>
                            <a:srgbClr val="67748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548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dirty="0">
                          <a:solidFill>
                            <a:srgbClr val="2185C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C.10. Seguridad</a:t>
                      </a: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s-ES" sz="1800" b="1" dirty="0">
                          <a:solidFill>
                            <a:srgbClr val="67748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</a:t>
                      </a:r>
                      <a:endParaRPr lang="en" sz="1800" b="1" dirty="0">
                        <a:solidFill>
                          <a:srgbClr val="67748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 sz="1800" b="1" dirty="0">
                          <a:solidFill>
                            <a:srgbClr val="67748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548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" dirty="0">
                          <a:solidFill>
                            <a:srgbClr val="2185C5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D.5. Alertas</a:t>
                      </a:r>
                    </a:p>
                  </a:txBody>
                  <a:tcPr marL="91425" marR="91425" marT="91425" marB="91425" anchor="ctr">
                    <a:lnL w="76200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>
                      <a:solidFill>
                        <a:srgbClr val="218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s-ES" sz="1800" b="1" dirty="0">
                          <a:solidFill>
                            <a:srgbClr val="67748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</a:t>
                      </a:r>
                      <a:endParaRPr lang="en" sz="1800" b="1" dirty="0">
                        <a:solidFill>
                          <a:srgbClr val="67748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>
                      <a:solidFill>
                        <a:srgbClr val="218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s-ES" sz="1800" b="1" dirty="0">
                          <a:solidFill>
                            <a:srgbClr val="67748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</a:t>
                      </a:r>
                      <a:endParaRPr lang="en" sz="1800" b="1" dirty="0">
                        <a:solidFill>
                          <a:srgbClr val="67748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2185C5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ECE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>
                      <a:solidFill>
                        <a:srgbClr val="218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143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2417700" y="274650"/>
            <a:ext cx="6462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s-ES" dirty="0"/>
              <a:t>Situación 2</a:t>
            </a:r>
            <a:endParaRPr lang="en" dirty="0"/>
          </a:p>
        </p:txBody>
      </p:sp>
      <p:pic>
        <p:nvPicPr>
          <p:cNvPr id="40" name="Picture 2" descr="Pandora F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937" y="869191"/>
            <a:ext cx="202882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Marcador de texto 2"/>
          <p:cNvSpPr>
            <a:spLocks noGrp="1"/>
          </p:cNvSpPr>
          <p:nvPr>
            <p:ph type="body" idx="1"/>
          </p:nvPr>
        </p:nvSpPr>
        <p:spPr>
          <a:xfrm>
            <a:off x="2417700" y="2136648"/>
            <a:ext cx="7433436" cy="2325624"/>
          </a:xfrm>
        </p:spPr>
        <p:txBody>
          <a:bodyPr/>
          <a:lstStyle/>
          <a:p>
            <a:pPr marL="285750" indent="-285750"/>
            <a:r>
              <a:rPr lang="es-ES" sz="1800" dirty="0"/>
              <a:t>Servidor: Windows</a:t>
            </a:r>
          </a:p>
          <a:p>
            <a:pPr marL="285750" indent="-285750"/>
            <a:r>
              <a:rPr lang="es-ES" sz="1800" dirty="0"/>
              <a:t>Monitorización: mediante cliente de Pandora FMS</a:t>
            </a:r>
          </a:p>
          <a:p>
            <a:pPr marL="285750" indent="-285750"/>
            <a:r>
              <a:rPr lang="es-ES" sz="1800" dirty="0"/>
              <a:t>El objetivo es tener 2 bases de datos en HA.</a:t>
            </a:r>
          </a:p>
          <a:p>
            <a:pPr marL="285750" indent="-285750"/>
            <a:r>
              <a:rPr lang="es-ES" sz="1800" dirty="0"/>
              <a:t>Consta de 12 servidores:</a:t>
            </a:r>
          </a:p>
          <a:p>
            <a:pPr marL="285750" indent="-285750"/>
            <a:r>
              <a:rPr lang="es-ES" sz="1800" dirty="0"/>
              <a:t>                1 Monitorización</a:t>
            </a:r>
          </a:p>
          <a:p>
            <a:pPr marL="285750" indent="-285750"/>
            <a:r>
              <a:rPr lang="es-ES" sz="1800" dirty="0"/>
              <a:t>                4 servidores tienen MSSQL.</a:t>
            </a:r>
          </a:p>
          <a:p>
            <a:pPr marL="285750" indent="-285750"/>
            <a:r>
              <a:rPr lang="es-ES" sz="1800" dirty="0"/>
              <a:t>                4 servidores tienen </a:t>
            </a:r>
            <a:r>
              <a:rPr lang="es-ES" sz="1800" dirty="0" err="1"/>
              <a:t>MySQL</a:t>
            </a:r>
            <a:r>
              <a:rPr lang="es-ES" sz="1800" dirty="0"/>
              <a:t>.</a:t>
            </a:r>
          </a:p>
          <a:p>
            <a:pPr marL="285750" indent="-285750"/>
            <a:endParaRPr lang="es-ES" dirty="0"/>
          </a:p>
          <a:p>
            <a:pPr marL="285750" indent="-28575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8340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3"/>
          <a:srcRect r="711"/>
          <a:stretch/>
        </p:blipFill>
        <p:spPr>
          <a:xfrm>
            <a:off x="3818192" y="274651"/>
            <a:ext cx="4813745" cy="6296025"/>
          </a:xfrm>
          <a:prstGeom prst="rect">
            <a:avLst/>
          </a:prstGeom>
        </p:spPr>
      </p:pic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2417700" y="274650"/>
            <a:ext cx="6462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s-ES" dirty="0"/>
              <a:t>Situación 2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90174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ctrTitle" idx="4294967295"/>
          </p:nvPr>
        </p:nvSpPr>
        <p:spPr>
          <a:xfrm>
            <a:off x="2464501" y="2616602"/>
            <a:ext cx="7517699" cy="11933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s-ES" sz="6000" b="1" dirty="0" err="1">
                <a:solidFill>
                  <a:srgbClr val="0070C0"/>
                </a:solidFill>
                <a:latin typeface="Lato"/>
                <a:ea typeface="Lato"/>
                <a:cs typeface="Lato"/>
                <a:sym typeface="Lato"/>
              </a:rPr>
              <a:t>PandoraFMS</a:t>
            </a:r>
            <a:endParaRPr lang="en" sz="6000" b="1" dirty="0">
              <a:solidFill>
                <a:srgbClr val="0070C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Shape 202"/>
          <p:cNvSpPr txBox="1">
            <a:spLocks noGrp="1"/>
          </p:cNvSpPr>
          <p:nvPr>
            <p:ph type="subTitle" idx="4294967295"/>
          </p:nvPr>
        </p:nvSpPr>
        <p:spPr>
          <a:xfrm>
            <a:off x="2464501" y="3634349"/>
            <a:ext cx="8410328" cy="617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1800" dirty="0">
                <a:latin typeface="Arial" panose="020B0604020202020204" pitchFamily="34" charset="0"/>
                <a:ea typeface="Calibri" panose="020F0502020204030204" pitchFamily="34" charset="0"/>
              </a:rPr>
              <a:t>Al ser una infraestructura montada sobre Windows, nuestra única solución es usar </a:t>
            </a:r>
            <a:r>
              <a:rPr lang="es-ES" sz="1800" dirty="0" err="1">
                <a:latin typeface="Arial" panose="020B0604020202020204" pitchFamily="34" charset="0"/>
                <a:ea typeface="Calibri" panose="020F0502020204030204" pitchFamily="34" charset="0"/>
              </a:rPr>
              <a:t>PandoraFMS</a:t>
            </a:r>
            <a:r>
              <a:rPr lang="es-ES" sz="1800" dirty="0">
                <a:latin typeface="Arial" panose="020B0604020202020204" pitchFamily="34" charset="0"/>
                <a:ea typeface="Calibri" panose="020F0502020204030204" pitchFamily="34" charset="0"/>
              </a:rPr>
              <a:t> ya que permite ser instalada en un servidor Windows.</a:t>
            </a:r>
          </a:p>
        </p:txBody>
      </p:sp>
      <p:sp>
        <p:nvSpPr>
          <p:cNvPr id="204" name="Shape 204"/>
          <p:cNvSpPr/>
          <p:nvPr/>
        </p:nvSpPr>
        <p:spPr>
          <a:xfrm>
            <a:off x="1524001" y="2767501"/>
            <a:ext cx="940499" cy="891599"/>
          </a:xfrm>
          <a:prstGeom prst="rightArrow">
            <a:avLst>
              <a:gd name="adj1" fmla="val 61815"/>
              <a:gd name="adj2" fmla="val 50000"/>
            </a:avLst>
          </a:prstGeom>
          <a:solidFill>
            <a:srgbClr val="0070C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622" y="307856"/>
            <a:ext cx="6651312" cy="132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978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 txBox="1">
            <a:spLocks noGrp="1"/>
          </p:cNvSpPr>
          <p:nvPr>
            <p:ph type="ctrTitle" idx="4294967295"/>
          </p:nvPr>
        </p:nvSpPr>
        <p:spPr>
          <a:xfrm>
            <a:off x="2440025" y="968125"/>
            <a:ext cx="5561100" cy="15465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r>
              <a:rPr lang="es-ES" sz="6000" dirty="0">
                <a:solidFill>
                  <a:srgbClr val="7ECEFD"/>
                </a:solidFill>
              </a:rPr>
              <a:t>¡Gracias</a:t>
            </a:r>
            <a:r>
              <a:rPr lang="en" sz="6000" dirty="0">
                <a:solidFill>
                  <a:srgbClr val="7ECEFD"/>
                </a:solidFill>
              </a:rPr>
              <a:t>!</a:t>
            </a:r>
          </a:p>
        </p:txBody>
      </p:sp>
      <p:sp>
        <p:nvSpPr>
          <p:cNvPr id="295" name="Shape 295"/>
          <p:cNvSpPr txBox="1">
            <a:spLocks noGrp="1"/>
          </p:cNvSpPr>
          <p:nvPr>
            <p:ph type="subTitle" idx="4294967295"/>
          </p:nvPr>
        </p:nvSpPr>
        <p:spPr>
          <a:xfrm>
            <a:off x="2440025" y="2338950"/>
            <a:ext cx="5561100" cy="104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 sz="4800" b="1" dirty="0">
                <a:solidFill>
                  <a:srgbClr val="FFFFFF"/>
                </a:solidFill>
              </a:rPr>
              <a:t>¿Alguna pregunta?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42061" y="5203639"/>
            <a:ext cx="2879490" cy="865148"/>
          </a:xfrm>
          <a:prstGeom prst="rect">
            <a:avLst/>
          </a:prstGeom>
          <a:noFill/>
          <a:ln>
            <a:solidFill>
              <a:schemeClr val="bg1">
                <a:alpha val="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9162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nton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2924</TotalTime>
  <Words>1171</Words>
  <Application>Microsoft Office PowerPoint</Application>
  <PresentationFormat>Panorámica</PresentationFormat>
  <Paragraphs>318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Lato</vt:lpstr>
      <vt:lpstr>Raleway</vt:lpstr>
      <vt:lpstr>Times New Roman</vt:lpstr>
      <vt:lpstr>Wingdings</vt:lpstr>
      <vt:lpstr>Tema de Office</vt:lpstr>
      <vt:lpstr>Antonio template</vt:lpstr>
      <vt:lpstr>Monitorización: Icinga &amp; PandoraFMS  TG2</vt:lpstr>
      <vt:lpstr>¡Hola!</vt:lpstr>
      <vt:lpstr>1. Descripción ampliada sobre cada tecnología</vt:lpstr>
      <vt:lpstr> Descripción ampliada sobre Icinga</vt:lpstr>
      <vt:lpstr> Descripción ampliada sobre Icinga</vt:lpstr>
      <vt:lpstr> Descripción ampliada sobre PandoraFMS</vt:lpstr>
      <vt:lpstr> Descripción ampliada sobre PandoraFMS</vt:lpstr>
      <vt:lpstr>2. Criterios de comparación</vt:lpstr>
      <vt:lpstr> Criterios de comparación de ambas tecnologías</vt:lpstr>
      <vt:lpstr> Criterios de comparación de ambas tecnologías</vt:lpstr>
      <vt:lpstr> Criterios de comparación de ambas tecnologías</vt:lpstr>
      <vt:lpstr> Criterios de comparación de ambas tecnologías</vt:lpstr>
      <vt:lpstr> Criterios de comparación de ambas tecnologías</vt:lpstr>
      <vt:lpstr> Criterios de comparación de ambas tecnologías</vt:lpstr>
      <vt:lpstr>3. Evaluación de los criterios</vt:lpstr>
      <vt:lpstr>Presentación de PowerPoint</vt:lpstr>
      <vt:lpstr>Presentación de PowerPoint</vt:lpstr>
      <vt:lpstr>Presentación de PowerPoint</vt:lpstr>
      <vt:lpstr>4. Comparación de las tecnologías</vt:lpstr>
      <vt:lpstr>Presentación de PowerPoint</vt:lpstr>
      <vt:lpstr>5. Recomendaciones</vt:lpstr>
      <vt:lpstr>Situación 1</vt:lpstr>
      <vt:lpstr>Situación 1</vt:lpstr>
      <vt:lpstr>Situación 1</vt:lpstr>
      <vt:lpstr>Situación 2</vt:lpstr>
      <vt:lpstr>Situación 2</vt:lpstr>
      <vt:lpstr>PandoraFMS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Monitorización: Icinga &amp; PandoraFMS  TG2</dc:title>
  <dc:creator>Sergio Martín Miguez</dc:creator>
  <cp:lastModifiedBy>Sergio Martín Miguez</cp:lastModifiedBy>
  <cp:revision>28</cp:revision>
  <dcterms:created xsi:type="dcterms:W3CDTF">2017-03-31T09:15:09Z</dcterms:created>
  <dcterms:modified xsi:type="dcterms:W3CDTF">2017-04-03T17:13:33Z</dcterms:modified>
</cp:coreProperties>
</file>