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9"/>
  </p:notesMasterIdLst>
  <p:sldIdLst>
    <p:sldId id="284" r:id="rId2"/>
    <p:sldId id="285" r:id="rId3"/>
    <p:sldId id="290" r:id="rId4"/>
    <p:sldId id="291" r:id="rId5"/>
    <p:sldId id="289" r:id="rId6"/>
    <p:sldId id="287" r:id="rId7"/>
    <p:sldId id="292" r:id="rId8"/>
  </p:sldIdLst>
  <p:sldSz cx="9144000" cy="6858000" type="screen4x3"/>
  <p:notesSz cx="6858000" cy="9144000"/>
  <p:embeddedFontLst>
    <p:embeddedFont>
      <p:font typeface="Raleway" panose="020B0604020202020204" charset="0"/>
      <p:regular r:id="rId10"/>
      <p:bold r:id="rId11"/>
      <p:italic r:id="rId12"/>
      <p:boldItalic r:id="rId13"/>
    </p:embeddedFont>
    <p:embeddedFont>
      <p:font typeface="Lato" panose="020B0604020202020204" charset="0"/>
      <p:regular r:id="rId14"/>
      <p:bold r:id="rId15"/>
      <p:italic r:id="rId16"/>
      <p:boldItalic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0A63BD-01B4-4B4B-9D4A-FC97D9B464FF}">
  <a:tblStyle styleId="{070A63BD-01B4-4B4B-9D4A-FC97D9B464FF}" styleName="Table_0">
    <a:wholeTbl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8" y="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5823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Shape 2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420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Shape 2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21440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Shape 2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85369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Shape 2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9012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Shape 2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144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Shape 2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7780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/>
          <p:nvPr/>
        </p:nvSpPr>
        <p:spPr>
          <a:xfrm>
            <a:off x="0" y="0"/>
            <a:ext cx="9144000" cy="53238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ubTitle" idx="1"/>
          </p:nvPr>
        </p:nvSpPr>
        <p:spPr>
          <a:xfrm>
            <a:off x="685800" y="3786737"/>
            <a:ext cx="7772400" cy="104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buClr>
                <a:srgbClr val="FFFFFF"/>
              </a:buClr>
              <a:buNone/>
              <a:defRPr b="1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buClr>
                <a:srgbClr val="FFFFFF"/>
              </a:buClr>
              <a:buNone/>
              <a:defRPr b="1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2400"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8" name="Shape 18"/>
          <p:cNvSpPr/>
          <p:nvPr/>
        </p:nvSpPr>
        <p:spPr>
          <a:xfrm>
            <a:off x="3047703" y="5323800"/>
            <a:ext cx="3047700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9" name="Shape 19"/>
          <p:cNvSpPr/>
          <p:nvPr/>
        </p:nvSpPr>
        <p:spPr>
          <a:xfrm>
            <a:off x="6096270" y="5323800"/>
            <a:ext cx="3047700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0" name="Shape 20"/>
          <p:cNvSpPr/>
          <p:nvPr/>
        </p:nvSpPr>
        <p:spPr>
          <a:xfrm>
            <a:off x="1" y="5323800"/>
            <a:ext cx="3047700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893700" y="274650"/>
            <a:ext cx="6462600" cy="11430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>
            <a:off x="893700" y="1600200"/>
            <a:ext cx="23712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400"/>
            </a:lvl1pPr>
            <a:lvl2pPr lvl="1" rtl="0">
              <a:spcBef>
                <a:spcPts val="0"/>
              </a:spcBef>
              <a:buSzPct val="100000"/>
              <a:defRPr sz="1400"/>
            </a:lvl2pPr>
            <a:lvl3pPr lvl="2" rtl="0">
              <a:spcBef>
                <a:spcPts val="0"/>
              </a:spcBef>
              <a:buSzPct val="100000"/>
              <a:defRPr sz="1400"/>
            </a:lvl3pPr>
            <a:lvl4pPr lvl="3" rtl="0">
              <a:spcBef>
                <a:spcPts val="0"/>
              </a:spcBef>
              <a:buSzPct val="100000"/>
              <a:defRPr sz="1400"/>
            </a:lvl4pPr>
            <a:lvl5pPr lvl="4" rtl="0">
              <a:spcBef>
                <a:spcPts val="0"/>
              </a:spcBef>
              <a:buSzPct val="100000"/>
              <a:defRPr sz="1400"/>
            </a:lvl5pPr>
            <a:lvl6pPr lvl="5" rtl="0">
              <a:spcBef>
                <a:spcPts val="0"/>
              </a:spcBef>
              <a:buSzPct val="100000"/>
              <a:defRPr sz="1400"/>
            </a:lvl6pPr>
            <a:lvl7pPr lvl="6" rtl="0">
              <a:spcBef>
                <a:spcPts val="0"/>
              </a:spcBef>
              <a:buSzPct val="100000"/>
              <a:defRPr sz="1400"/>
            </a:lvl7pPr>
            <a:lvl8pPr lvl="7" rtl="0">
              <a:spcBef>
                <a:spcPts val="0"/>
              </a:spcBef>
              <a:buSzPct val="100000"/>
              <a:defRPr sz="1400"/>
            </a:lvl8pPr>
            <a:lvl9pPr lvl="8" rtl="0">
              <a:spcBef>
                <a:spcPts val="0"/>
              </a:spcBef>
              <a:buSzPct val="100000"/>
              <a:defRPr sz="1400"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2"/>
          </p:nvPr>
        </p:nvSpPr>
        <p:spPr>
          <a:xfrm>
            <a:off x="3386403" y="1600200"/>
            <a:ext cx="23712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400"/>
            </a:lvl1pPr>
            <a:lvl2pPr lvl="1" rtl="0">
              <a:spcBef>
                <a:spcPts val="0"/>
              </a:spcBef>
              <a:buSzPct val="100000"/>
              <a:defRPr sz="1400"/>
            </a:lvl2pPr>
            <a:lvl3pPr lvl="2" rtl="0">
              <a:spcBef>
                <a:spcPts val="0"/>
              </a:spcBef>
              <a:buSzPct val="100000"/>
              <a:defRPr sz="1400"/>
            </a:lvl3pPr>
            <a:lvl4pPr lvl="3" rtl="0">
              <a:spcBef>
                <a:spcPts val="0"/>
              </a:spcBef>
              <a:buSzPct val="100000"/>
              <a:defRPr sz="1400"/>
            </a:lvl4pPr>
            <a:lvl5pPr lvl="4" rtl="0">
              <a:spcBef>
                <a:spcPts val="0"/>
              </a:spcBef>
              <a:buSzPct val="100000"/>
              <a:defRPr sz="1400"/>
            </a:lvl5pPr>
            <a:lvl6pPr lvl="5" rtl="0">
              <a:spcBef>
                <a:spcPts val="0"/>
              </a:spcBef>
              <a:buSzPct val="100000"/>
              <a:defRPr sz="1400"/>
            </a:lvl6pPr>
            <a:lvl7pPr lvl="6" rtl="0">
              <a:spcBef>
                <a:spcPts val="0"/>
              </a:spcBef>
              <a:buSzPct val="100000"/>
              <a:defRPr sz="1400"/>
            </a:lvl7pPr>
            <a:lvl8pPr lvl="7" rtl="0">
              <a:spcBef>
                <a:spcPts val="0"/>
              </a:spcBef>
              <a:buSzPct val="100000"/>
              <a:defRPr sz="1400"/>
            </a:lvl8pPr>
            <a:lvl9pPr lvl="8" rtl="0">
              <a:spcBef>
                <a:spcPts val="0"/>
              </a:spcBef>
              <a:buSzPct val="100000"/>
              <a:defRPr sz="1400"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body" idx="3"/>
          </p:nvPr>
        </p:nvSpPr>
        <p:spPr>
          <a:xfrm>
            <a:off x="5879107" y="1600200"/>
            <a:ext cx="23712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400"/>
            </a:lvl1pPr>
            <a:lvl2pPr lvl="1" rtl="0">
              <a:spcBef>
                <a:spcPts val="0"/>
              </a:spcBef>
              <a:buSzPct val="100000"/>
              <a:defRPr sz="1400"/>
            </a:lvl2pPr>
            <a:lvl3pPr lvl="2" rtl="0">
              <a:spcBef>
                <a:spcPts val="0"/>
              </a:spcBef>
              <a:buSzPct val="100000"/>
              <a:defRPr sz="1400"/>
            </a:lvl3pPr>
            <a:lvl4pPr lvl="3" rtl="0">
              <a:spcBef>
                <a:spcPts val="0"/>
              </a:spcBef>
              <a:buSzPct val="100000"/>
              <a:defRPr sz="1400"/>
            </a:lvl4pPr>
            <a:lvl5pPr lvl="4" rtl="0">
              <a:spcBef>
                <a:spcPts val="0"/>
              </a:spcBef>
              <a:buSzPct val="100000"/>
              <a:defRPr sz="1400"/>
            </a:lvl5pPr>
            <a:lvl6pPr lvl="5" rtl="0">
              <a:spcBef>
                <a:spcPts val="0"/>
              </a:spcBef>
              <a:buSzPct val="100000"/>
              <a:defRPr sz="1400"/>
            </a:lvl6pPr>
            <a:lvl7pPr lvl="6" rtl="0">
              <a:spcBef>
                <a:spcPts val="0"/>
              </a:spcBef>
              <a:buSzPct val="100000"/>
              <a:defRPr sz="1400"/>
            </a:lvl7pPr>
            <a:lvl8pPr lvl="7" rtl="0">
              <a:spcBef>
                <a:spcPts val="0"/>
              </a:spcBef>
              <a:buSzPct val="100000"/>
              <a:defRPr sz="1400"/>
            </a:lvl8pPr>
            <a:lvl9pPr lvl="8" rtl="0">
              <a:spcBef>
                <a:spcPts val="0"/>
              </a:spcBef>
              <a:buSzPct val="100000"/>
              <a:defRPr sz="1400"/>
            </a:lvl9pPr>
          </a:lstStyle>
          <a:p>
            <a:endParaRPr/>
          </a:p>
        </p:txBody>
      </p:sp>
      <p:sp>
        <p:nvSpPr>
          <p:cNvPr id="48" name="Shape 48"/>
          <p:cNvSpPr/>
          <p:nvPr/>
        </p:nvSpPr>
        <p:spPr>
          <a:xfrm>
            <a:off x="7356366" y="6755100"/>
            <a:ext cx="893699" cy="102899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9" name="Shape 49"/>
          <p:cNvSpPr/>
          <p:nvPr/>
        </p:nvSpPr>
        <p:spPr>
          <a:xfrm>
            <a:off x="8250311" y="6755100"/>
            <a:ext cx="893699" cy="102899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0" name="Shape 50"/>
          <p:cNvSpPr/>
          <p:nvPr/>
        </p:nvSpPr>
        <p:spPr>
          <a:xfrm>
            <a:off x="0" y="6755100"/>
            <a:ext cx="893699" cy="102899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1" name="Shape 51"/>
          <p:cNvSpPr/>
          <p:nvPr/>
        </p:nvSpPr>
        <p:spPr>
          <a:xfrm>
            <a:off x="893709" y="6755100"/>
            <a:ext cx="6462600" cy="102899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893700" y="274650"/>
            <a:ext cx="6462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buClr>
                <a:srgbClr val="97ABBC"/>
              </a:buClr>
              <a:buSzPct val="1000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893700" y="1831450"/>
            <a:ext cx="6462600" cy="4736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600"/>
              </a:spcBef>
              <a:buClr>
                <a:srgbClr val="677480"/>
              </a:buClr>
              <a:buSzPct val="100000"/>
              <a:buFont typeface="Lato"/>
              <a:buChar char="▷"/>
              <a:defRPr sz="30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480"/>
              </a:spcBef>
              <a:buClr>
                <a:srgbClr val="677480"/>
              </a:buClr>
              <a:buSzPct val="100000"/>
              <a:buFont typeface="Lato"/>
              <a:defRPr sz="24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480"/>
              </a:spcBef>
              <a:buClr>
                <a:srgbClr val="677480"/>
              </a:buClr>
              <a:buSzPct val="100000"/>
              <a:buFont typeface="Lato"/>
              <a:defRPr sz="24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360"/>
              </a:spcBef>
              <a:buClr>
                <a:srgbClr val="677480"/>
              </a:buClr>
              <a:buSzPct val="100000"/>
              <a:buFont typeface="Lato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360"/>
              </a:spcBef>
              <a:buClr>
                <a:srgbClr val="677480"/>
              </a:buClr>
              <a:buSzPct val="100000"/>
              <a:buFont typeface="Lato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360"/>
              </a:spcBef>
              <a:buClr>
                <a:srgbClr val="677480"/>
              </a:buClr>
              <a:buSzPct val="100000"/>
              <a:buFont typeface="Lato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360"/>
              </a:spcBef>
              <a:buClr>
                <a:srgbClr val="677480"/>
              </a:buClr>
              <a:buSzPct val="100000"/>
              <a:buFont typeface="Lato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360"/>
              </a:spcBef>
              <a:buClr>
                <a:srgbClr val="677480"/>
              </a:buClr>
              <a:buSzPct val="100000"/>
              <a:buFont typeface="Lato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360"/>
              </a:spcBef>
              <a:buClr>
                <a:srgbClr val="677480"/>
              </a:buClr>
              <a:buSzPct val="100000"/>
              <a:buFont typeface="Lato"/>
              <a:defRPr sz="1800">
                <a:solidFill>
                  <a:srgbClr val="67748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 txBox="1">
            <a:spLocks noGrp="1"/>
          </p:cNvSpPr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7200" dirty="0">
                <a:solidFill>
                  <a:srgbClr val="7ECEFD"/>
                </a:solidFill>
              </a:rPr>
              <a:t>6.</a:t>
            </a:r>
          </a:p>
          <a:p>
            <a:pPr lvl="0" rtl="0">
              <a:spcBef>
                <a:spcPts val="0"/>
              </a:spcBef>
              <a:buNone/>
            </a:pPr>
            <a:r>
              <a:rPr lang="es-ES" dirty="0"/>
              <a:t>Situaciones</a:t>
            </a:r>
            <a:endParaRPr lang="en" dirty="0"/>
          </a:p>
        </p:txBody>
      </p:sp>
      <p:sp>
        <p:nvSpPr>
          <p:cNvPr id="101" name="Shape 101"/>
          <p:cNvSpPr txBox="1">
            <a:spLocks noGrp="1"/>
          </p:cNvSpPr>
          <p:nvPr>
            <p:ph type="subTitle" idx="1"/>
          </p:nvPr>
        </p:nvSpPr>
        <p:spPr>
          <a:xfrm>
            <a:off x="685800" y="3786737"/>
            <a:ext cx="7772400" cy="1046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s-ES" dirty="0"/>
              <a:t>¿</a:t>
            </a:r>
            <a:r>
              <a:rPr lang="en" dirty="0"/>
              <a:t>Icinga o </a:t>
            </a:r>
            <a:r>
              <a:rPr lang="es-ES" dirty="0" err="1"/>
              <a:t>PandoraFMS</a:t>
            </a:r>
            <a:r>
              <a:rPr lang="es-ES" dirty="0"/>
              <a:t>?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4240909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 txBox="1">
            <a:spLocks noGrp="1"/>
          </p:cNvSpPr>
          <p:nvPr>
            <p:ph type="title"/>
          </p:nvPr>
        </p:nvSpPr>
        <p:spPr>
          <a:xfrm>
            <a:off x="893700" y="274650"/>
            <a:ext cx="6462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s-ES" dirty="0"/>
              <a:t>Situación 1</a:t>
            </a:r>
            <a:endParaRPr lang="en" dirty="0"/>
          </a:p>
        </p:txBody>
      </p:sp>
      <p:pic>
        <p:nvPicPr>
          <p:cNvPr id="35" name="Picture 2" descr="Icing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5376" y="880818"/>
            <a:ext cx="1477518" cy="536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93700" y="2136648"/>
            <a:ext cx="7433436" cy="2325624"/>
          </a:xfrm>
        </p:spPr>
        <p:txBody>
          <a:bodyPr/>
          <a:lstStyle/>
          <a:p>
            <a:pPr marL="285750" indent="-285750"/>
            <a:r>
              <a:rPr lang="es-ES" sz="1800" dirty="0"/>
              <a:t>Servidor: </a:t>
            </a:r>
            <a:r>
              <a:rPr lang="es-ES" sz="1800" dirty="0" err="1"/>
              <a:t>Debian</a:t>
            </a:r>
            <a:endParaRPr lang="es-ES" sz="1800" dirty="0"/>
          </a:p>
          <a:p>
            <a:pPr marL="285750" indent="-285750"/>
            <a:r>
              <a:rPr lang="es-ES" sz="1800" dirty="0"/>
              <a:t>Monitorización: mediante SSH</a:t>
            </a:r>
          </a:p>
          <a:p>
            <a:pPr marL="285750" indent="-285750"/>
            <a:r>
              <a:rPr lang="es-ES" sz="1800" dirty="0"/>
              <a:t>El objetivo es tener un almacenamiento distribuido (Ej. </a:t>
            </a:r>
            <a:r>
              <a:rPr lang="es-ES" sz="1800" dirty="0" err="1"/>
              <a:t>Hadoop</a:t>
            </a:r>
            <a:r>
              <a:rPr lang="es-ES" sz="1800" dirty="0"/>
              <a:t>)</a:t>
            </a:r>
          </a:p>
          <a:p>
            <a:pPr marL="285750" indent="-285750"/>
            <a:r>
              <a:rPr lang="es-ES" sz="1800" dirty="0"/>
              <a:t>Consta de 13 servidores:</a:t>
            </a:r>
          </a:p>
          <a:p>
            <a:pPr marL="285750" indent="-285750"/>
            <a:r>
              <a:rPr lang="es-ES" sz="1800" dirty="0"/>
              <a:t>                1 Monitorización</a:t>
            </a:r>
          </a:p>
          <a:p>
            <a:pPr marL="285750" indent="-285750"/>
            <a:r>
              <a:rPr lang="es-ES" sz="1800" dirty="0"/>
              <a:t>                2 Frontales: reciben todas las peticiones de ingesta.</a:t>
            </a:r>
          </a:p>
          <a:p>
            <a:pPr marL="285750" indent="-285750"/>
            <a:r>
              <a:rPr lang="es-ES" sz="1800" dirty="0"/>
              <a:t>                2 </a:t>
            </a:r>
            <a:r>
              <a:rPr lang="es-ES" sz="1800" dirty="0" err="1"/>
              <a:t>Name</a:t>
            </a:r>
            <a:r>
              <a:rPr lang="es-ES" sz="1800" dirty="0"/>
              <a:t> </a:t>
            </a:r>
            <a:r>
              <a:rPr lang="es-ES" sz="1800" dirty="0" err="1"/>
              <a:t>Nodes</a:t>
            </a:r>
            <a:r>
              <a:rPr lang="es-ES" sz="1800" dirty="0"/>
              <a:t>: guardan todos los metadatos de los data </a:t>
            </a:r>
            <a:r>
              <a:rPr lang="es-ES" sz="1800" dirty="0" err="1"/>
              <a:t>nodes</a:t>
            </a:r>
            <a:r>
              <a:rPr lang="es-ES" sz="1800" dirty="0"/>
              <a:t>.</a:t>
            </a:r>
          </a:p>
          <a:p>
            <a:pPr marL="285750" indent="-285750"/>
            <a:r>
              <a:rPr lang="es-ES" sz="1800" dirty="0"/>
              <a:t>                8 Data </a:t>
            </a:r>
            <a:r>
              <a:rPr lang="es-ES" sz="1800" dirty="0" err="1"/>
              <a:t>Nodes</a:t>
            </a:r>
            <a:r>
              <a:rPr lang="es-ES" sz="1800" dirty="0"/>
              <a:t>: guardan y procesan toda la información.</a:t>
            </a:r>
          </a:p>
          <a:p>
            <a:pPr marL="285750" indent="-285750"/>
            <a:endParaRPr lang="es-ES" dirty="0"/>
          </a:p>
          <a:p>
            <a:pPr marL="285750" indent="-28575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24476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/>
          <p:cNvPicPr>
            <a:picLocks noChangeAspect="1"/>
          </p:cNvPicPr>
          <p:nvPr/>
        </p:nvPicPr>
        <p:blipFill rotWithShape="1">
          <a:blip r:embed="rId3"/>
          <a:srcRect t="319" b="1"/>
          <a:stretch/>
        </p:blipFill>
        <p:spPr>
          <a:xfrm>
            <a:off x="1448475" y="633984"/>
            <a:ext cx="5353050" cy="5877115"/>
          </a:xfrm>
          <a:prstGeom prst="rect">
            <a:avLst/>
          </a:prstGeom>
        </p:spPr>
      </p:pic>
      <p:sp>
        <p:nvSpPr>
          <p:cNvPr id="222" name="Shape 222"/>
          <p:cNvSpPr txBox="1">
            <a:spLocks noGrp="1"/>
          </p:cNvSpPr>
          <p:nvPr>
            <p:ph type="title"/>
          </p:nvPr>
        </p:nvSpPr>
        <p:spPr>
          <a:xfrm>
            <a:off x="893700" y="274650"/>
            <a:ext cx="6462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s-ES" dirty="0"/>
              <a:t>Situación 1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740723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 txBox="1">
            <a:spLocks noGrp="1"/>
          </p:cNvSpPr>
          <p:nvPr>
            <p:ph type="title"/>
          </p:nvPr>
        </p:nvSpPr>
        <p:spPr>
          <a:xfrm>
            <a:off x="893700" y="274650"/>
            <a:ext cx="6462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s-ES" dirty="0"/>
              <a:t>Situación 1</a:t>
            </a:r>
            <a:endParaRPr lang="en" dirty="0"/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543774"/>
              </p:ext>
            </p:extLst>
          </p:nvPr>
        </p:nvGraphicFramePr>
        <p:xfrm>
          <a:off x="1036320" y="1987296"/>
          <a:ext cx="7607808" cy="1231139"/>
        </p:xfrm>
        <a:graphic>
          <a:graphicData uri="http://schemas.openxmlformats.org/drawingml/2006/table">
            <a:tbl>
              <a:tblPr firstRow="1" firstCol="1" bandRow="1">
                <a:tableStyleId>{070A63BD-01B4-4B4B-9D4A-FC97D9B464FF}</a:tableStyleId>
              </a:tblPr>
              <a:tblGrid>
                <a:gridCol w="2281267">
                  <a:extLst>
                    <a:ext uri="{9D8B030D-6E8A-4147-A177-3AD203B41FA5}">
                      <a16:colId xmlns:a16="http://schemas.microsoft.com/office/drawing/2014/main" val="3400663234"/>
                    </a:ext>
                  </a:extLst>
                </a:gridCol>
                <a:gridCol w="2792694">
                  <a:extLst>
                    <a:ext uri="{9D8B030D-6E8A-4147-A177-3AD203B41FA5}">
                      <a16:colId xmlns:a16="http://schemas.microsoft.com/office/drawing/2014/main" val="765586542"/>
                    </a:ext>
                  </a:extLst>
                </a:gridCol>
                <a:gridCol w="2533847">
                  <a:extLst>
                    <a:ext uri="{9D8B030D-6E8A-4147-A177-3AD203B41FA5}">
                      <a16:colId xmlns:a16="http://schemas.microsoft.com/office/drawing/2014/main" val="330595527"/>
                    </a:ext>
                  </a:extLst>
                </a:gridCol>
              </a:tblGrid>
              <a:tr h="50383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Criterios relevantes para la decisión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Ventajas Icinga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Ventajas Pandora FMS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8045549"/>
                  </a:ext>
                </a:extLst>
              </a:tr>
              <a:tr h="24243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B.3. Versatilidad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No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8702058"/>
                  </a:ext>
                </a:extLst>
              </a:tr>
              <a:tr h="24243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C.10. Seguridad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No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0000946"/>
                  </a:ext>
                </a:extLst>
              </a:tr>
              <a:tr h="24243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D.5. Alertas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Si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No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6239983"/>
                  </a:ext>
                </a:extLst>
              </a:tr>
            </a:tbl>
          </a:graphicData>
        </a:graphic>
      </p:graphicFrame>
      <p:sp>
        <p:nvSpPr>
          <p:cNvPr id="3" name="Rectángulo 2"/>
          <p:cNvSpPr/>
          <p:nvPr/>
        </p:nvSpPr>
        <p:spPr>
          <a:xfrm>
            <a:off x="1036320" y="3788081"/>
            <a:ext cx="4572000" cy="101438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Versatilidad: Alertas propias.</a:t>
            </a:r>
          </a:p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Seguridad: Usar SSH (par de claves) en vez de agente.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"/>
            </a:pPr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Alertas: mandarlas por </a:t>
            </a:r>
            <a:r>
              <a:rPr lang="es-ES" dirty="0" err="1">
                <a:latin typeface="Arial" panose="020B0604020202020204" pitchFamily="34" charset="0"/>
                <a:ea typeface="Calibri" panose="020F0502020204030204" pitchFamily="34" charset="0"/>
              </a:rPr>
              <a:t>Telegram</a:t>
            </a:r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3143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 txBox="1">
            <a:spLocks noGrp="1"/>
          </p:cNvSpPr>
          <p:nvPr>
            <p:ph type="title"/>
          </p:nvPr>
        </p:nvSpPr>
        <p:spPr>
          <a:xfrm>
            <a:off x="893700" y="274650"/>
            <a:ext cx="6462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s-ES" dirty="0"/>
              <a:t>Situación 2</a:t>
            </a:r>
            <a:endParaRPr lang="en" dirty="0"/>
          </a:p>
        </p:txBody>
      </p:sp>
      <p:pic>
        <p:nvPicPr>
          <p:cNvPr id="40" name="Picture 2" descr="Pandora FM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7936" y="869190"/>
            <a:ext cx="2028825" cy="4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Marcador de texto 2"/>
          <p:cNvSpPr>
            <a:spLocks noGrp="1"/>
          </p:cNvSpPr>
          <p:nvPr>
            <p:ph type="body" idx="1"/>
          </p:nvPr>
        </p:nvSpPr>
        <p:spPr>
          <a:xfrm>
            <a:off x="893700" y="2136648"/>
            <a:ext cx="7433436" cy="2325624"/>
          </a:xfrm>
        </p:spPr>
        <p:txBody>
          <a:bodyPr/>
          <a:lstStyle/>
          <a:p>
            <a:pPr marL="285750" indent="-285750"/>
            <a:r>
              <a:rPr lang="es-ES" sz="1800" dirty="0"/>
              <a:t>Servidor: Windows</a:t>
            </a:r>
          </a:p>
          <a:p>
            <a:pPr marL="285750" indent="-285750"/>
            <a:r>
              <a:rPr lang="es-ES" sz="1800" dirty="0"/>
              <a:t>Monitorización: mediante cliente de Pandora FMS</a:t>
            </a:r>
          </a:p>
          <a:p>
            <a:pPr marL="285750" indent="-285750"/>
            <a:r>
              <a:rPr lang="es-ES" sz="1800" dirty="0"/>
              <a:t>El objetivo es tener 2 bases de datos en HA.</a:t>
            </a:r>
          </a:p>
          <a:p>
            <a:pPr marL="285750" indent="-285750"/>
            <a:r>
              <a:rPr lang="es-ES" sz="1800" dirty="0"/>
              <a:t>Consta de 12 servidores:</a:t>
            </a:r>
          </a:p>
          <a:p>
            <a:pPr marL="285750" indent="-285750"/>
            <a:r>
              <a:rPr lang="es-ES" sz="1800" dirty="0"/>
              <a:t>                1 Monitorización</a:t>
            </a:r>
          </a:p>
          <a:p>
            <a:pPr marL="285750" indent="-285750"/>
            <a:r>
              <a:rPr lang="es-ES" sz="1800" dirty="0"/>
              <a:t>                4 servidores tienen MSSQL.</a:t>
            </a:r>
          </a:p>
          <a:p>
            <a:pPr marL="285750" indent="-285750"/>
            <a:r>
              <a:rPr lang="es-ES" sz="1800" dirty="0"/>
              <a:t>                4 servidores tienen </a:t>
            </a:r>
            <a:r>
              <a:rPr lang="es-ES" sz="1800" dirty="0" err="1"/>
              <a:t>MySQL</a:t>
            </a:r>
            <a:r>
              <a:rPr lang="es-ES" sz="1800" dirty="0"/>
              <a:t>.</a:t>
            </a:r>
          </a:p>
          <a:p>
            <a:pPr marL="285750" indent="-285750"/>
            <a:endParaRPr lang="es-ES" dirty="0"/>
          </a:p>
          <a:p>
            <a:pPr marL="285750" indent="-28575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68340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/>
          <p:cNvPicPr>
            <a:picLocks noChangeAspect="1"/>
          </p:cNvPicPr>
          <p:nvPr/>
        </p:nvPicPr>
        <p:blipFill rotWithShape="1">
          <a:blip r:embed="rId3"/>
          <a:srcRect r="711"/>
          <a:stretch/>
        </p:blipFill>
        <p:spPr>
          <a:xfrm>
            <a:off x="2294191" y="274650"/>
            <a:ext cx="4813745" cy="6296025"/>
          </a:xfrm>
          <a:prstGeom prst="rect">
            <a:avLst/>
          </a:prstGeom>
        </p:spPr>
      </p:pic>
      <p:sp>
        <p:nvSpPr>
          <p:cNvPr id="222" name="Shape 222"/>
          <p:cNvSpPr txBox="1">
            <a:spLocks noGrp="1"/>
          </p:cNvSpPr>
          <p:nvPr>
            <p:ph type="title"/>
          </p:nvPr>
        </p:nvSpPr>
        <p:spPr>
          <a:xfrm>
            <a:off x="893700" y="274650"/>
            <a:ext cx="6462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s-ES" dirty="0"/>
              <a:t>Situación 2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90174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 txBox="1">
            <a:spLocks noGrp="1"/>
          </p:cNvSpPr>
          <p:nvPr>
            <p:ph type="title"/>
          </p:nvPr>
        </p:nvSpPr>
        <p:spPr>
          <a:xfrm>
            <a:off x="893700" y="274650"/>
            <a:ext cx="6462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s-ES" dirty="0"/>
              <a:t>Situación 2</a:t>
            </a:r>
            <a:endParaRPr lang="en" dirty="0"/>
          </a:p>
        </p:txBody>
      </p:sp>
      <p:sp>
        <p:nvSpPr>
          <p:cNvPr id="4" name="Rectángulo 3"/>
          <p:cNvSpPr/>
          <p:nvPr/>
        </p:nvSpPr>
        <p:spPr>
          <a:xfrm>
            <a:off x="1207008" y="4183114"/>
            <a:ext cx="6419088" cy="5533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Al ser una infraestructura montada sobre Windows, nuestra única solución es usar </a:t>
            </a:r>
            <a:r>
              <a:rPr lang="es-ES" dirty="0" err="1">
                <a:latin typeface="Arial" panose="020B0604020202020204" pitchFamily="34" charset="0"/>
                <a:ea typeface="Calibri" panose="020F0502020204030204" pitchFamily="34" charset="0"/>
              </a:rPr>
              <a:t>PandoraFMS</a:t>
            </a:r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 ya que permite ser instalada en un servidor Windows.</a:t>
            </a:r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202185"/>
              </p:ext>
            </p:extLst>
          </p:nvPr>
        </p:nvGraphicFramePr>
        <p:xfrm>
          <a:off x="1207008" y="2334641"/>
          <a:ext cx="7057596" cy="1065594"/>
        </p:xfrm>
        <a:graphic>
          <a:graphicData uri="http://schemas.openxmlformats.org/drawingml/2006/table">
            <a:tbl>
              <a:tblPr firstRow="1" firstCol="1" bandRow="1">
                <a:tableStyleId>{070A63BD-01B4-4B4B-9D4A-FC97D9B464FF}</a:tableStyleId>
              </a:tblPr>
              <a:tblGrid>
                <a:gridCol w="2116282">
                  <a:extLst>
                    <a:ext uri="{9D8B030D-6E8A-4147-A177-3AD203B41FA5}">
                      <a16:colId xmlns:a16="http://schemas.microsoft.com/office/drawing/2014/main" val="3624364740"/>
                    </a:ext>
                  </a:extLst>
                </a:gridCol>
                <a:gridCol w="2590721">
                  <a:extLst>
                    <a:ext uri="{9D8B030D-6E8A-4147-A177-3AD203B41FA5}">
                      <a16:colId xmlns:a16="http://schemas.microsoft.com/office/drawing/2014/main" val="1751119912"/>
                    </a:ext>
                  </a:extLst>
                </a:gridCol>
                <a:gridCol w="2350593">
                  <a:extLst>
                    <a:ext uri="{9D8B030D-6E8A-4147-A177-3AD203B41FA5}">
                      <a16:colId xmlns:a16="http://schemas.microsoft.com/office/drawing/2014/main" val="773433935"/>
                    </a:ext>
                  </a:extLst>
                </a:gridCol>
              </a:tblGrid>
              <a:tr h="73130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Criterios relevantes para la decisión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Ventajas Icinga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Ventajas PandoraFMS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14123723"/>
                  </a:ext>
                </a:extLst>
              </a:tr>
              <a:tr h="33428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C.1. Multiplataforma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No</a:t>
                      </a:r>
                      <a:endParaRPr lang="es-E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Si</a:t>
                      </a:r>
                      <a:endParaRPr lang="es-E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380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9168621"/>
      </p:ext>
    </p:extLst>
  </p:cSld>
  <p:clrMapOvr>
    <a:masterClrMapping/>
  </p:clrMapOvr>
</p:sld>
</file>

<file path=ppt/theme/theme1.xml><?xml version="1.0" encoding="utf-8"?>
<a:theme xmlns:a="http://schemas.openxmlformats.org/drawingml/2006/main" name="Anton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221</Words>
  <Application>Microsoft Office PowerPoint</Application>
  <PresentationFormat>Presentación en pantalla (4:3)</PresentationFormat>
  <Paragraphs>46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Raleway</vt:lpstr>
      <vt:lpstr>Arial</vt:lpstr>
      <vt:lpstr>Times New Roman</vt:lpstr>
      <vt:lpstr>Wingdings</vt:lpstr>
      <vt:lpstr>Lato</vt:lpstr>
      <vt:lpstr>Calibri</vt:lpstr>
      <vt:lpstr>Antonio template</vt:lpstr>
      <vt:lpstr>6. Situaciones</vt:lpstr>
      <vt:lpstr>Situación 1</vt:lpstr>
      <vt:lpstr>Situación 1</vt:lpstr>
      <vt:lpstr>Situación 1</vt:lpstr>
      <vt:lpstr>Situación 2</vt:lpstr>
      <vt:lpstr>Situación 2</vt:lpstr>
      <vt:lpstr>Situación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Monitorización: Icinga &amp; Munin  TG1</dc:title>
  <cp:lastModifiedBy>Iván Alejandro Marugán</cp:lastModifiedBy>
  <cp:revision>10</cp:revision>
  <dcterms:modified xsi:type="dcterms:W3CDTF">2017-03-30T17:35:25Z</dcterms:modified>
</cp:coreProperties>
</file>