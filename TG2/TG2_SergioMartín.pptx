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5"/>
  </p:notesMasterIdLst>
  <p:sldIdLst>
    <p:sldId id="256" r:id="rId3"/>
    <p:sldId id="268" r:id="rId4"/>
    <p:sldId id="258" r:id="rId5"/>
    <p:sldId id="259" r:id="rId6"/>
    <p:sldId id="263" r:id="rId7"/>
    <p:sldId id="261" r:id="rId8"/>
    <p:sldId id="265" r:id="rId9"/>
    <p:sldId id="267" r:id="rId10"/>
    <p:sldId id="260" r:id="rId11"/>
    <p:sldId id="262" r:id="rId12"/>
    <p:sldId id="264" r:id="rId13"/>
    <p:sldId id="266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83661-B3EA-4B39-BAF1-28720FD69EC1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1750-F6C3-41EB-A930-59A0FF2393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52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244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83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440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41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598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47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757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742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215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146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71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186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4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2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5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37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41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86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79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84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2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99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41764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33271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0191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27971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1191600" y="1831451"/>
            <a:ext cx="8616800" cy="473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2" name="Shape 32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3" name="Shape 33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4" name="Shape 34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13505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119150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562594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0" name="Shape 40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1" name="Shape 41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2" name="Shape 42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370960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91600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4515204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7838809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9" name="Shape 49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0" name="Shape 50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1" name="Shape 51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63029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5" name="Shape 55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6" name="Shape 56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7" name="Shape 57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87005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191600" y="6199950"/>
            <a:ext cx="8616800" cy="4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360"/>
              </a:spcBef>
              <a:buClr>
                <a:srgbClr val="2185C5"/>
              </a:buClr>
              <a:buSzPct val="100000"/>
              <a:buNone/>
              <a:defRPr sz="1400">
                <a:solidFill>
                  <a:srgbClr val="2185C5"/>
                </a:solidFill>
              </a:defRPr>
            </a:lvl1pPr>
          </a:lstStyle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1" name="Shape 6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2" name="Shape 6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3" name="Shape 6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02249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6" name="Shape 66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7" name="Shape 67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8" name="Shape 68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1432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 background">
    <p:bg>
      <p:bgPr>
        <a:solidFill>
          <a:srgbClr val="2185C5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1" name="Shape 7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2" name="Shape 7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3" name="Shape 7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364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14B9C-9850-476F-9735-FF3642A58DBA}" type="datetimeFigureOut">
              <a:rPr lang="es-ES" smtClean="0"/>
              <a:t>31/03/2017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8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91600" y="1831451"/>
            <a:ext cx="8616800" cy="473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677480"/>
              </a:buClr>
              <a:buSzPct val="100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91425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ctrTitle"/>
          </p:nvPr>
        </p:nvSpPr>
        <p:spPr>
          <a:xfrm>
            <a:off x="2245425" y="3785246"/>
            <a:ext cx="7522923" cy="15465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Monitorización:</a:t>
            </a:r>
            <a:br>
              <a:rPr lang="es-ES" dirty="0"/>
            </a:br>
            <a:r>
              <a:rPr lang="es-ES" dirty="0" err="1"/>
              <a:t>Icinga</a:t>
            </a:r>
            <a:r>
              <a:rPr lang="es-ES" dirty="0"/>
              <a:t> &amp; </a:t>
            </a:r>
            <a:r>
              <a:rPr lang="es-ES" dirty="0" err="1"/>
              <a:t>PandoraFMS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TG2</a:t>
            </a:r>
            <a:endParaRPr lang="en" dirty="0"/>
          </a:p>
        </p:txBody>
      </p:sp>
      <p:pic>
        <p:nvPicPr>
          <p:cNvPr id="1026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140014"/>
            <a:ext cx="1790879" cy="65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718" y="5777294"/>
            <a:ext cx="1365063" cy="1013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776" y="469131"/>
            <a:ext cx="2537882" cy="7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ctrTitle" idx="4294967295"/>
          </p:nvPr>
        </p:nvSpPr>
        <p:spPr>
          <a:xfrm>
            <a:off x="2440025" y="587125"/>
            <a:ext cx="55611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" sz="6000" dirty="0">
                <a:solidFill>
                  <a:srgbClr val="7ECEFD"/>
                </a:solidFill>
              </a:rPr>
              <a:t>¡H</a:t>
            </a:r>
            <a:r>
              <a:rPr lang="es-ES" sz="6000" dirty="0">
                <a:solidFill>
                  <a:srgbClr val="7ECEFD"/>
                </a:solidFill>
              </a:rPr>
              <a:t>ola</a:t>
            </a:r>
            <a:r>
              <a:rPr lang="en" sz="6000" dirty="0">
                <a:solidFill>
                  <a:srgbClr val="7ECEFD"/>
                </a:solidFill>
              </a:rPr>
              <a:t>!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subTitle" idx="4294967295"/>
          </p:nvPr>
        </p:nvSpPr>
        <p:spPr>
          <a:xfrm>
            <a:off x="2440025" y="1957950"/>
            <a:ext cx="55611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4800" b="1" dirty="0">
                <a:solidFill>
                  <a:srgbClr val="2185C5"/>
                </a:solidFill>
              </a:rPr>
              <a:t>Somos el grupo 6</a:t>
            </a:r>
            <a:endParaRPr lang="en" sz="4800" b="1" dirty="0">
              <a:solidFill>
                <a:srgbClr val="2185C5"/>
              </a:solidFill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body" idx="4294967295"/>
          </p:nvPr>
        </p:nvSpPr>
        <p:spPr>
          <a:xfrm>
            <a:off x="2440025" y="3297675"/>
            <a:ext cx="5561100" cy="2660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Integrantes del grupo</a:t>
            </a:r>
            <a:r>
              <a:rPr lang="en" sz="2400" dirty="0"/>
              <a:t>:</a:t>
            </a:r>
          </a:p>
          <a:p>
            <a:pPr>
              <a:spcBef>
                <a:spcPts val="0"/>
              </a:spcBef>
              <a:buNone/>
            </a:pPr>
            <a:endParaRPr lang="en" sz="2400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Sergio Martín Míguez (</a:t>
            </a:r>
            <a:r>
              <a:rPr lang="es-ES" dirty="0"/>
              <a:t>Coordinador</a:t>
            </a:r>
            <a:r>
              <a:rPr lang="en" dirty="0"/>
              <a:t>)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Iv</a:t>
            </a:r>
            <a:r>
              <a:rPr lang="es-ES" dirty="0"/>
              <a:t>án Alejandro </a:t>
            </a:r>
            <a:r>
              <a:rPr lang="es-ES" dirty="0" err="1"/>
              <a:t>Marugán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Daniel Corral García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Juan Felipe Martín </a:t>
            </a:r>
            <a:r>
              <a:rPr lang="es-ES" dirty="0" err="1"/>
              <a:t>Martín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Silvia del Valle Recio 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1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76424" r="7015"/>
          <a:stretch/>
        </p:blipFill>
        <p:spPr>
          <a:xfrm>
            <a:off x="10400501" y="0"/>
            <a:ext cx="1791499" cy="67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3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1.</a:t>
            </a:r>
          </a:p>
          <a:p>
            <a:r>
              <a:rPr lang="es-ES" dirty="0"/>
              <a:t>Descripción ampliada sobre cada tecnología</a:t>
            </a:r>
            <a:endParaRPr lang="en" dirty="0"/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2209800" y="3786737"/>
            <a:ext cx="7772400" cy="10464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Ampliación de conocimientos sobre </a:t>
            </a:r>
            <a:r>
              <a:rPr lang="es-ES" dirty="0" err="1"/>
              <a:t>Icinga</a:t>
            </a:r>
            <a:r>
              <a:rPr lang="es-ES" dirty="0"/>
              <a:t> y </a:t>
            </a:r>
            <a:r>
              <a:rPr lang="es-ES" dirty="0" err="1"/>
              <a:t>PandoraFMS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5335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09" y="1563408"/>
            <a:ext cx="7082580" cy="3983952"/>
          </a:xfrm>
          <a:prstGeom prst="rect">
            <a:avLst/>
          </a:prstGeom>
        </p:spPr>
      </p:pic>
      <p:sp>
        <p:nvSpPr>
          <p:cNvPr id="112" name="Rectangle 1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Icinga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9C27"/>
                </a:solidFill>
                <a:latin typeface="+mn-lt"/>
                <a:ea typeface="+mn-ea"/>
                <a:cs typeface="+mn-cs"/>
              </a:rPr>
              <a:t>Repasando lo que ya sabemos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044" y="5848400"/>
            <a:ext cx="1792379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69" y="1466849"/>
            <a:ext cx="6993465" cy="3933825"/>
          </a:xfrm>
          <a:prstGeom prst="rect">
            <a:avLst/>
          </a:prstGeom>
        </p:spPr>
      </p:pic>
      <p:sp>
        <p:nvSpPr>
          <p:cNvPr id="136" name="Rectangl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Icinga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A232"/>
                </a:solidFill>
                <a:latin typeface="+mn-lt"/>
                <a:ea typeface="+mn-ea"/>
                <a:cs typeface="+mn-cs"/>
              </a:rPr>
              <a:t>Ampliando conocimientos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471" y="5848400"/>
            <a:ext cx="1792379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2" name="Rectangle 1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Connector 1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PandoraFMS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9C27"/>
                </a:solidFill>
                <a:latin typeface="+mn-lt"/>
                <a:ea typeface="+mn-ea"/>
                <a:cs typeface="+mn-cs"/>
              </a:rPr>
              <a:t>Repasando lo que ya sabemos</a:t>
            </a:r>
            <a:endParaRPr lang="en-US" sz="2000" kern="1200" dirty="0">
              <a:solidFill>
                <a:srgbClr val="FF9C27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76" y="1606794"/>
            <a:ext cx="7069015" cy="397632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10" y="5821235"/>
            <a:ext cx="1847248" cy="7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1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535" y="1428750"/>
            <a:ext cx="7179731" cy="4038600"/>
          </a:xfrm>
          <a:prstGeom prst="rect">
            <a:avLst/>
          </a:prstGeom>
        </p:spPr>
      </p:pic>
      <p:sp>
        <p:nvSpPr>
          <p:cNvPr id="120" name="Rectangle 1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10" y="5821235"/>
            <a:ext cx="1847248" cy="798645"/>
          </a:xfrm>
          <a:prstGeom prst="rect">
            <a:avLst/>
          </a:prstGeom>
        </p:spPr>
      </p:pic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sz="4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PandoraFMS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B532"/>
                </a:solidFill>
                <a:latin typeface="+mn-lt"/>
                <a:ea typeface="+mn-ea"/>
                <a:cs typeface="+mn-cs"/>
              </a:rPr>
              <a:t>Ampliando conocimientos</a:t>
            </a:r>
          </a:p>
        </p:txBody>
      </p:sp>
    </p:spTree>
    <p:extLst>
      <p:ext uri="{BB962C8B-B14F-4D97-AF65-F5344CB8AC3E}">
        <p14:creationId xmlns:p14="http://schemas.microsoft.com/office/powerpoint/2010/main" val="145415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LO DE ABAJO NO SIRVE, SOLO LO UTILICE PARA HACER LAS DE ARRIBA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6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>
            <a:spLocks noGrp="1"/>
          </p:cNvSpPr>
          <p:nvPr>
            <p:ph type="ctrTitle" idx="4294967295"/>
          </p:nvPr>
        </p:nvSpPr>
        <p:spPr>
          <a:xfrm>
            <a:off x="2464501" y="711601"/>
            <a:ext cx="7517699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 err="1">
                <a:solidFill>
                  <a:srgbClr val="FF9715"/>
                </a:solidFill>
                <a:latin typeface="Lato"/>
                <a:ea typeface="Lato"/>
                <a:cs typeface="Lato"/>
                <a:sym typeface="Lato"/>
              </a:rPr>
              <a:t>Fork</a:t>
            </a:r>
            <a:r>
              <a:rPr lang="es-ES" sz="6000" b="1" dirty="0">
                <a:solidFill>
                  <a:srgbClr val="FF971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s-ES" sz="6000" b="1" dirty="0" err="1">
                <a:solidFill>
                  <a:srgbClr val="FF9715"/>
                </a:solidFill>
                <a:latin typeface="Lato"/>
                <a:ea typeface="Lato"/>
                <a:cs typeface="Lato"/>
                <a:sym typeface="Lato"/>
              </a:rPr>
              <a:t>Nagios</a:t>
            </a:r>
            <a:endParaRPr lang="en" sz="6000" b="1" dirty="0">
              <a:solidFill>
                <a:srgbClr val="FF971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Shape 198"/>
          <p:cNvSpPr txBox="1">
            <a:spLocks noGrp="1"/>
          </p:cNvSpPr>
          <p:nvPr>
            <p:ph type="subTitle" idx="4294967295"/>
          </p:nvPr>
        </p:nvSpPr>
        <p:spPr>
          <a:xfrm>
            <a:off x="2464501" y="1729347"/>
            <a:ext cx="7517699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Versión actualizada con más funcionalidades</a:t>
            </a:r>
            <a:endParaRPr lang="en" sz="2400" dirty="0"/>
          </a:p>
        </p:txBody>
      </p:sp>
      <p:sp>
        <p:nvSpPr>
          <p:cNvPr id="199" name="Shape 199"/>
          <p:cNvSpPr txBox="1">
            <a:spLocks noGrp="1"/>
          </p:cNvSpPr>
          <p:nvPr>
            <p:ph type="ctrTitle" idx="4294967295"/>
          </p:nvPr>
        </p:nvSpPr>
        <p:spPr>
          <a:xfrm>
            <a:off x="2464501" y="4521604"/>
            <a:ext cx="7517699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>
                <a:solidFill>
                  <a:srgbClr val="7ECEFD"/>
                </a:solidFill>
                <a:latin typeface="Lato"/>
                <a:ea typeface="Lato"/>
                <a:cs typeface="Lato"/>
                <a:sym typeface="Lato"/>
              </a:rPr>
              <a:t>Sistema de alertas</a:t>
            </a:r>
            <a:endParaRPr lang="en" sz="6000" b="1" dirty="0">
              <a:solidFill>
                <a:srgbClr val="7ECEF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Shape 200"/>
          <p:cNvSpPr txBox="1">
            <a:spLocks noGrp="1"/>
          </p:cNvSpPr>
          <p:nvPr>
            <p:ph type="subTitle" idx="4294967295"/>
          </p:nvPr>
        </p:nvSpPr>
        <p:spPr>
          <a:xfrm>
            <a:off x="2464501" y="5539350"/>
            <a:ext cx="7517699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Vía correo electrónico, SMS, </a:t>
            </a:r>
            <a:r>
              <a:rPr lang="es-ES" sz="2400" dirty="0" err="1"/>
              <a:t>pager</a:t>
            </a:r>
            <a:r>
              <a:rPr lang="es-ES" sz="2400" dirty="0"/>
              <a:t>, </a:t>
            </a:r>
            <a:r>
              <a:rPr lang="es-ES" sz="2400" dirty="0" err="1"/>
              <a:t>etc</a:t>
            </a:r>
            <a:endParaRPr lang="en" sz="2400" dirty="0"/>
          </a:p>
        </p:txBody>
      </p:sp>
      <p:sp>
        <p:nvSpPr>
          <p:cNvPr id="201" name="Shape 201"/>
          <p:cNvSpPr txBox="1">
            <a:spLocks noGrp="1"/>
          </p:cNvSpPr>
          <p:nvPr>
            <p:ph type="ctrTitle" idx="4294967295"/>
          </p:nvPr>
        </p:nvSpPr>
        <p:spPr>
          <a:xfrm>
            <a:off x="2464501" y="2616602"/>
            <a:ext cx="7517699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>
                <a:solidFill>
                  <a:srgbClr val="F20253"/>
                </a:solidFill>
                <a:latin typeface="Lato"/>
                <a:ea typeface="Lato"/>
                <a:cs typeface="Lato"/>
                <a:sym typeface="Lato"/>
              </a:rPr>
              <a:t>Open </a:t>
            </a:r>
            <a:r>
              <a:rPr lang="es-ES" sz="6000" b="1" dirty="0" err="1">
                <a:solidFill>
                  <a:srgbClr val="F20253"/>
                </a:solidFill>
                <a:latin typeface="Lato"/>
                <a:ea typeface="Lato"/>
                <a:cs typeface="Lato"/>
                <a:sym typeface="Lato"/>
              </a:rPr>
              <a:t>Source</a:t>
            </a:r>
            <a:endParaRPr lang="en" sz="6000" b="1" dirty="0">
              <a:solidFill>
                <a:srgbClr val="F2025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Shape 202"/>
          <p:cNvSpPr txBox="1">
            <a:spLocks noGrp="1"/>
          </p:cNvSpPr>
          <p:nvPr>
            <p:ph type="subTitle" idx="4294967295"/>
          </p:nvPr>
        </p:nvSpPr>
        <p:spPr>
          <a:xfrm>
            <a:off x="2464501" y="3634349"/>
            <a:ext cx="7517699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 err="1"/>
              <a:t>It’s</a:t>
            </a:r>
            <a:r>
              <a:rPr lang="es-ES" sz="2400" dirty="0"/>
              <a:t> free!!</a:t>
            </a:r>
            <a:endParaRPr lang="en" sz="2400" dirty="0"/>
          </a:p>
        </p:txBody>
      </p:sp>
      <p:sp>
        <p:nvSpPr>
          <p:cNvPr id="203" name="Shape 203"/>
          <p:cNvSpPr/>
          <p:nvPr/>
        </p:nvSpPr>
        <p:spPr>
          <a:xfrm>
            <a:off x="1524001" y="862501"/>
            <a:ext cx="940499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1524001" y="2767501"/>
            <a:ext cx="940499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1524001" y="4672501"/>
            <a:ext cx="940499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64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>
            <a:spLocks noGrp="1"/>
          </p:cNvSpPr>
          <p:nvPr>
            <p:ph type="ctrTitle" idx="4294967295"/>
          </p:nvPr>
        </p:nvSpPr>
        <p:spPr>
          <a:xfrm>
            <a:off x="1787493" y="720393"/>
            <a:ext cx="9967822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>
                <a:solidFill>
                  <a:srgbClr val="FF9715"/>
                </a:solidFill>
                <a:latin typeface="Lato"/>
                <a:ea typeface="Lato"/>
                <a:cs typeface="Lato"/>
                <a:sym typeface="Lato"/>
              </a:rPr>
              <a:t>Desarrollado por Ártica ST</a:t>
            </a:r>
            <a:endParaRPr lang="en" sz="6000" b="1" dirty="0">
              <a:solidFill>
                <a:srgbClr val="FF971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Shape 198"/>
          <p:cNvSpPr txBox="1">
            <a:spLocks noGrp="1"/>
          </p:cNvSpPr>
          <p:nvPr>
            <p:ph type="subTitle" idx="4294967295"/>
          </p:nvPr>
        </p:nvSpPr>
        <p:spPr>
          <a:xfrm>
            <a:off x="1787493" y="1738139"/>
            <a:ext cx="7778421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Última versión estable: </a:t>
            </a:r>
            <a:r>
              <a:rPr lang="es-ES" sz="2400" dirty="0"/>
              <a:t>6.0 SP3</a:t>
            </a:r>
            <a:endParaRPr lang="en" sz="2400" dirty="0"/>
          </a:p>
        </p:txBody>
      </p:sp>
      <p:sp>
        <p:nvSpPr>
          <p:cNvPr id="199" name="Shape 199"/>
          <p:cNvSpPr txBox="1">
            <a:spLocks noGrp="1"/>
          </p:cNvSpPr>
          <p:nvPr>
            <p:ph type="ctrTitle" idx="4294967295"/>
          </p:nvPr>
        </p:nvSpPr>
        <p:spPr>
          <a:xfrm>
            <a:off x="1787493" y="4530396"/>
            <a:ext cx="7778421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>
                <a:solidFill>
                  <a:srgbClr val="7ECEFD"/>
                </a:solidFill>
                <a:latin typeface="Lato"/>
                <a:ea typeface="Lato"/>
                <a:cs typeface="Lato"/>
                <a:sym typeface="Lato"/>
              </a:rPr>
              <a:t>Sistema de alertas</a:t>
            </a:r>
            <a:endParaRPr lang="en" sz="6000" b="1" dirty="0">
              <a:solidFill>
                <a:srgbClr val="7ECEF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Shape 200"/>
          <p:cNvSpPr txBox="1">
            <a:spLocks noGrp="1"/>
          </p:cNvSpPr>
          <p:nvPr>
            <p:ph type="subTitle" idx="4294967295"/>
          </p:nvPr>
        </p:nvSpPr>
        <p:spPr>
          <a:xfrm>
            <a:off x="1787493" y="5548142"/>
            <a:ext cx="7778421" cy="8872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Vía correo electrónico, SMS, </a:t>
            </a:r>
            <a:r>
              <a:rPr lang="es-ES" sz="2400" dirty="0" err="1"/>
              <a:t>pager</a:t>
            </a:r>
            <a:r>
              <a:rPr lang="es-ES" sz="2400" dirty="0"/>
              <a:t>, </a:t>
            </a:r>
            <a:r>
              <a:rPr lang="es-ES" sz="2400" dirty="0" err="1"/>
              <a:t>etc</a:t>
            </a:r>
            <a:endParaRPr lang="es-ES" sz="2400" dirty="0"/>
          </a:p>
          <a:p>
            <a:pPr>
              <a:spcBef>
                <a:spcPts val="0"/>
              </a:spcBef>
              <a:buNone/>
            </a:pPr>
            <a:r>
              <a:rPr lang="es-ES" sz="2400" b="1" dirty="0"/>
              <a:t>Con o sin agentes</a:t>
            </a:r>
            <a:endParaRPr lang="en" sz="2400" b="1" dirty="0"/>
          </a:p>
        </p:txBody>
      </p:sp>
      <p:sp>
        <p:nvSpPr>
          <p:cNvPr id="201" name="Shape 201"/>
          <p:cNvSpPr txBox="1">
            <a:spLocks noGrp="1"/>
          </p:cNvSpPr>
          <p:nvPr>
            <p:ph type="ctrTitle" idx="4294967295"/>
          </p:nvPr>
        </p:nvSpPr>
        <p:spPr>
          <a:xfrm>
            <a:off x="1787493" y="2625394"/>
            <a:ext cx="7778421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>
                <a:solidFill>
                  <a:srgbClr val="F20253"/>
                </a:solidFill>
                <a:latin typeface="Lato"/>
                <a:ea typeface="Lato"/>
                <a:cs typeface="Lato"/>
                <a:sym typeface="Lato"/>
              </a:rPr>
              <a:t>Open </a:t>
            </a:r>
            <a:r>
              <a:rPr lang="es-ES" sz="6000" b="1" dirty="0" err="1">
                <a:solidFill>
                  <a:srgbClr val="F20253"/>
                </a:solidFill>
                <a:latin typeface="Lato"/>
                <a:ea typeface="Lato"/>
                <a:cs typeface="Lato"/>
                <a:sym typeface="Lato"/>
              </a:rPr>
              <a:t>Source</a:t>
            </a:r>
            <a:endParaRPr lang="en" sz="6000" b="1" dirty="0">
              <a:solidFill>
                <a:srgbClr val="F2025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Shape 202"/>
          <p:cNvSpPr txBox="1">
            <a:spLocks noGrp="1"/>
          </p:cNvSpPr>
          <p:nvPr>
            <p:ph type="subTitle" idx="4294967295"/>
          </p:nvPr>
        </p:nvSpPr>
        <p:spPr>
          <a:xfrm>
            <a:off x="1787493" y="3643141"/>
            <a:ext cx="7778421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 err="1"/>
              <a:t>It’s</a:t>
            </a:r>
            <a:r>
              <a:rPr lang="es-ES" sz="2400" dirty="0"/>
              <a:t> free!!</a:t>
            </a:r>
            <a:endParaRPr lang="en" sz="2400" dirty="0"/>
          </a:p>
        </p:txBody>
      </p:sp>
      <p:sp>
        <p:nvSpPr>
          <p:cNvPr id="203" name="Shape 203"/>
          <p:cNvSpPr/>
          <p:nvPr/>
        </p:nvSpPr>
        <p:spPr>
          <a:xfrm>
            <a:off x="846993" y="871293"/>
            <a:ext cx="973117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846993" y="2776293"/>
            <a:ext cx="973117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846993" y="4681293"/>
            <a:ext cx="973117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834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307546" y="0"/>
            <a:ext cx="7359346" cy="1123327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¿Qué puede ofrecer </a:t>
            </a:r>
            <a:r>
              <a:rPr lang="es-ES" dirty="0" err="1"/>
              <a:t>Icinga</a:t>
            </a:r>
            <a:r>
              <a:rPr lang="es-ES" dirty="0"/>
              <a:t>?</a:t>
            </a:r>
            <a:endParaRPr lang="en" dirty="0"/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1318592" y="1286328"/>
            <a:ext cx="6462600" cy="231858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s-ES" sz="1800" b="1" dirty="0"/>
              <a:t>Monitorización de servicios de red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(SMTP, POP3, HTTP, NTP, ping, etcétera)</a:t>
            </a:r>
          </a:p>
          <a:p>
            <a:pPr lvl="0"/>
            <a:r>
              <a:rPr lang="es-ES" sz="1800" b="1" dirty="0"/>
              <a:t>Monitorización</a:t>
            </a:r>
            <a:r>
              <a:rPr lang="es-ES" sz="1800" dirty="0"/>
              <a:t> </a:t>
            </a:r>
            <a:r>
              <a:rPr lang="es-ES" sz="1800" b="1" dirty="0"/>
              <a:t>de componentes de red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</a:t>
            </a:r>
            <a:r>
              <a:rPr lang="es-ES" sz="1600" dirty="0" err="1"/>
              <a:t>switches</a:t>
            </a:r>
            <a:r>
              <a:rPr lang="es-ES" sz="1600" dirty="0"/>
              <a:t>, </a:t>
            </a:r>
            <a:r>
              <a:rPr lang="es-ES" sz="1600" dirty="0" err="1"/>
              <a:t>routers</a:t>
            </a:r>
            <a:r>
              <a:rPr lang="es-ES" sz="1600" dirty="0"/>
              <a:t>, etcétera)</a:t>
            </a:r>
          </a:p>
          <a:p>
            <a:r>
              <a:rPr lang="es-ES" sz="1800" b="1" dirty="0"/>
              <a:t>Nivel de alertas</a:t>
            </a:r>
          </a:p>
          <a:p>
            <a:pPr lvl="0"/>
            <a:r>
              <a:rPr lang="es-ES" sz="1800" b="1" dirty="0"/>
              <a:t>Multitud de vías de notificación </a:t>
            </a:r>
          </a:p>
          <a:p>
            <a:pPr lvl="0"/>
            <a:r>
              <a:rPr lang="es-ES" sz="1800" b="1" dirty="0"/>
              <a:t>Dos</a:t>
            </a:r>
            <a:r>
              <a:rPr lang="es-ES" sz="1800" dirty="0"/>
              <a:t> </a:t>
            </a:r>
            <a:r>
              <a:rPr lang="es-ES" sz="1800" b="1" dirty="0"/>
              <a:t>interfaces</a:t>
            </a:r>
            <a:r>
              <a:rPr lang="es-ES" sz="1800" dirty="0"/>
              <a:t> </a:t>
            </a:r>
            <a:r>
              <a:rPr lang="es-ES" sz="1800" b="1" dirty="0"/>
              <a:t>web</a:t>
            </a:r>
            <a:r>
              <a:rPr lang="es-ES" sz="1800" dirty="0"/>
              <a:t> </a:t>
            </a:r>
            <a:r>
              <a:rPr lang="es-ES" sz="1800" b="1" dirty="0"/>
              <a:t>opciones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</a:t>
            </a:r>
            <a:r>
              <a:rPr lang="es-ES" sz="1600" dirty="0" err="1"/>
              <a:t>Icinga</a:t>
            </a:r>
            <a:r>
              <a:rPr lang="es-ES" sz="1600" dirty="0"/>
              <a:t> </a:t>
            </a:r>
            <a:r>
              <a:rPr lang="es-ES" sz="1600" dirty="0" err="1"/>
              <a:t>Clasic</a:t>
            </a:r>
            <a:r>
              <a:rPr lang="es-ES" sz="1600" dirty="0"/>
              <a:t> UI e </a:t>
            </a:r>
            <a:r>
              <a:rPr lang="es-ES" sz="1600" dirty="0" err="1"/>
              <a:t>Icinga</a:t>
            </a:r>
            <a:r>
              <a:rPr lang="es-ES" sz="1600" dirty="0"/>
              <a:t> Web)</a:t>
            </a:r>
          </a:p>
          <a:p>
            <a:pPr>
              <a:buNone/>
            </a:pPr>
            <a:endParaRPr dirty="0"/>
          </a:p>
        </p:txBody>
      </p:sp>
      <p:sp>
        <p:nvSpPr>
          <p:cNvPr id="4" name="Shape 111"/>
          <p:cNvSpPr txBox="1">
            <a:spLocks/>
          </p:cNvSpPr>
          <p:nvPr/>
        </p:nvSpPr>
        <p:spPr>
          <a:xfrm>
            <a:off x="990486" y="3150184"/>
            <a:ext cx="9489946" cy="112332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ct val="100000"/>
              <a:buFont typeface="Raleway"/>
              <a:buNone/>
              <a:defRPr sz="3600" b="0" i="0" u="none" strike="noStrike" cap="none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s-ES" kern="0" dirty="0"/>
              <a:t>Capacidad de adaptación a </a:t>
            </a:r>
            <a:r>
              <a:rPr lang="es-ES" kern="0" dirty="0" err="1"/>
              <a:t>Nagios</a:t>
            </a:r>
            <a:endParaRPr lang="en" kern="0" dirty="0"/>
          </a:p>
        </p:txBody>
      </p:sp>
      <p:sp>
        <p:nvSpPr>
          <p:cNvPr id="5" name="Shape 112"/>
          <p:cNvSpPr txBox="1">
            <a:spLocks/>
          </p:cNvSpPr>
          <p:nvPr/>
        </p:nvSpPr>
        <p:spPr>
          <a:xfrm>
            <a:off x="2874492" y="4407245"/>
            <a:ext cx="6462600" cy="232061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Char char="▷"/>
              <a:defRPr sz="30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24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ct val="100000"/>
              <a:buFont typeface="Lato"/>
              <a:buNone/>
              <a:defRPr sz="1800" b="0" i="0" u="none" strike="noStrike" cap="none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/>
            <a:r>
              <a:rPr lang="es-ES" sz="1800" b="1" dirty="0"/>
              <a:t>Gráficos de rendimiento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(PNP4Nagios, </a:t>
            </a:r>
            <a:r>
              <a:rPr lang="es-ES" sz="1600" dirty="0" err="1"/>
              <a:t>NagiosGrapher</a:t>
            </a:r>
            <a:r>
              <a:rPr lang="es-ES" sz="1600" dirty="0"/>
              <a:t>, etcétera)</a:t>
            </a:r>
          </a:p>
          <a:p>
            <a:pPr lvl="0"/>
            <a:r>
              <a:rPr lang="es-ES" sz="1800" b="1" dirty="0"/>
              <a:t>Herramientas de configuración e interfaz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</a:t>
            </a:r>
            <a:r>
              <a:rPr lang="es-ES" sz="1600" dirty="0" err="1"/>
              <a:t>Nconf</a:t>
            </a:r>
            <a:r>
              <a:rPr lang="es-ES" sz="1600" dirty="0"/>
              <a:t>, </a:t>
            </a:r>
            <a:r>
              <a:rPr lang="es-ES" sz="1600" dirty="0" err="1"/>
              <a:t>NagiosSQL</a:t>
            </a:r>
            <a:r>
              <a:rPr lang="es-ES" sz="1600" dirty="0"/>
              <a:t>)</a:t>
            </a:r>
          </a:p>
          <a:p>
            <a:pPr lvl="0"/>
            <a:r>
              <a:rPr lang="es-ES" sz="1800" b="1" dirty="0"/>
              <a:t>Monitorización de procesos de negocio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</a:t>
            </a:r>
            <a:r>
              <a:rPr lang="es-ES" sz="1600" dirty="0" err="1"/>
              <a:t>NagVIS</a:t>
            </a:r>
            <a:r>
              <a:rPr lang="es-ES" sz="1600" dirty="0"/>
              <a:t>, </a:t>
            </a:r>
            <a:r>
              <a:rPr lang="es-ES" sz="1600" dirty="0" err="1"/>
              <a:t>Nagmap</a:t>
            </a:r>
            <a:r>
              <a:rPr lang="es-ES" sz="1600" dirty="0"/>
              <a:t>)</a:t>
            </a:r>
          </a:p>
          <a:p>
            <a:pPr lvl="0"/>
            <a:r>
              <a:rPr lang="es-ES" sz="1800" b="1" dirty="0"/>
              <a:t>Monitorización de host Windows</a:t>
            </a:r>
            <a:r>
              <a:rPr lang="es-ES" sz="1800" dirty="0"/>
              <a:t>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(</a:t>
            </a:r>
            <a:r>
              <a:rPr lang="es-ES" sz="1600" dirty="0" err="1"/>
              <a:t>NSClient</a:t>
            </a:r>
            <a:r>
              <a:rPr lang="es-ES" sz="1600" dirty="0"/>
              <a:t>++, </a:t>
            </a:r>
            <a:r>
              <a:rPr lang="es-ES" sz="1600" dirty="0" err="1"/>
              <a:t>Cygwin</a:t>
            </a:r>
            <a:r>
              <a:rPr lang="es-ES" sz="1600" dirty="0"/>
              <a:t>)</a:t>
            </a:r>
          </a:p>
          <a:p>
            <a:pPr>
              <a:buFont typeface="Lato"/>
              <a:buNone/>
            </a:pPr>
            <a:endParaRPr lang="es-ES" kern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892" y="561663"/>
            <a:ext cx="4386686" cy="368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7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307546" y="0"/>
            <a:ext cx="7359346" cy="1123327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Multitud de funcionalidades</a:t>
            </a:r>
            <a:endParaRPr lang="en" dirty="0"/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755919" y="1365458"/>
            <a:ext cx="6462600" cy="4402296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s-ES" sz="1800" b="1" dirty="0"/>
              <a:t>Crear informes </a:t>
            </a:r>
            <a:r>
              <a:rPr lang="es-ES" sz="1800" dirty="0"/>
              <a:t>para cualquier elemento monitorizado. </a:t>
            </a:r>
          </a:p>
          <a:p>
            <a:pPr lvl="0">
              <a:buNone/>
            </a:pPr>
            <a:r>
              <a:rPr lang="es-ES" sz="1600" dirty="0"/>
              <a:t>	Se pueden complementar con: gráficas, </a:t>
            </a:r>
            <a:r>
              <a:rPr lang="es-ES" sz="1600" dirty="0" err="1"/>
              <a:t>SLAs</a:t>
            </a:r>
            <a:r>
              <a:rPr lang="es-ES" sz="1600" dirty="0"/>
              <a:t>, métricas, 	sumatorios, tablas, eventos, etc. </a:t>
            </a:r>
          </a:p>
          <a:p>
            <a:pPr lvl="0"/>
            <a:r>
              <a:rPr lang="es-ES" sz="1800" b="1" dirty="0"/>
              <a:t>Controlar equipos </a:t>
            </a:r>
            <a:r>
              <a:rPr lang="es-ES" sz="1800" dirty="0"/>
              <a:t>remotamente.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Permite copia de archivos bidireccional, gestión de 	procesos y de servicios. </a:t>
            </a:r>
          </a:p>
          <a:p>
            <a:pPr lvl="0"/>
            <a:r>
              <a:rPr lang="es-ES" sz="1800" dirty="0"/>
              <a:t>Realizar una </a:t>
            </a:r>
            <a:r>
              <a:rPr lang="es-ES" sz="1800" b="1" dirty="0"/>
              <a:t>monitorización descentralizada</a:t>
            </a:r>
            <a:r>
              <a:rPr lang="es-ES" sz="1800" dirty="0"/>
              <a:t>.</a:t>
            </a:r>
            <a:r>
              <a:rPr lang="es-ES" sz="1800" dirty="0"/>
              <a:t> </a:t>
            </a:r>
          </a:p>
          <a:p>
            <a:pPr lvl="0">
              <a:buNone/>
            </a:pPr>
            <a:r>
              <a:rPr lang="es-ES" sz="1600" dirty="0"/>
              <a:t>	D</a:t>
            </a:r>
            <a:r>
              <a:rPr lang="es-ES" sz="1600" dirty="0"/>
              <a:t>e forma remota para pruebas WMI, ICMP, SNMP v1 y 2 </a:t>
            </a:r>
          </a:p>
          <a:p>
            <a:pPr lvl="0"/>
            <a:r>
              <a:rPr lang="es-ES" sz="1800" dirty="0"/>
              <a:t>Definir </a:t>
            </a:r>
            <a:r>
              <a:rPr lang="es-ES" sz="1800" b="1" dirty="0"/>
              <a:t>vista</a:t>
            </a:r>
            <a:r>
              <a:rPr lang="es-ES" sz="1800" dirty="0"/>
              <a:t> de monitorización </a:t>
            </a:r>
            <a:r>
              <a:rPr lang="es-ES" sz="1800" b="1" dirty="0"/>
              <a:t>personalizada</a:t>
            </a:r>
            <a:r>
              <a:rPr lang="es-ES" sz="1800" dirty="0"/>
              <a:t>.</a:t>
            </a:r>
          </a:p>
          <a:p>
            <a:pPr lvl="0"/>
            <a:r>
              <a:rPr lang="es-ES" sz="1800" dirty="0"/>
              <a:t>Un </a:t>
            </a:r>
            <a:r>
              <a:rPr lang="es-ES" sz="1800" b="1" dirty="0"/>
              <a:t>sistema de eventos </a:t>
            </a:r>
            <a:r>
              <a:rPr lang="es-ES" sz="1800" dirty="0"/>
              <a:t>en el que se mantiene un log.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Todo lo que va sucediendo desde la consola web.</a:t>
            </a:r>
          </a:p>
          <a:p>
            <a:pPr lvl="0"/>
            <a:r>
              <a:rPr lang="es-ES" sz="1800" b="1" dirty="0"/>
              <a:t>Alta disponibilidad </a:t>
            </a:r>
            <a:r>
              <a:rPr lang="es-ES" sz="1800" dirty="0"/>
              <a:t>y numerosas opciones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En caso de caídas.</a:t>
            </a:r>
          </a:p>
          <a:p>
            <a:pPr lvl="0"/>
            <a:r>
              <a:rPr lang="es-ES" sz="1800" dirty="0"/>
              <a:t>Otras grandes funcionalidades:</a:t>
            </a:r>
          </a:p>
          <a:p>
            <a:pPr lvl="0">
              <a:buNone/>
            </a:pPr>
            <a:r>
              <a:rPr lang="es-ES" sz="1800" dirty="0"/>
              <a:t>	</a:t>
            </a:r>
            <a:r>
              <a:rPr lang="es-ES" sz="1600" dirty="0"/>
              <a:t>Actualizaciones automáticas, geolocalización, consolas 	web para móviles, niveles de control de </a:t>
            </a:r>
            <a:r>
              <a:rPr lang="es-ES" sz="1600" dirty="0" err="1"/>
              <a:t>acceso,etc</a:t>
            </a:r>
            <a:r>
              <a:rPr lang="es-ES" sz="1600" dirty="0"/>
              <a:t>.</a:t>
            </a:r>
          </a:p>
          <a:p>
            <a:pPr>
              <a:buNone/>
            </a:pPr>
            <a:endParaRPr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449" y="1365458"/>
            <a:ext cx="6233773" cy="387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46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180</Words>
  <Application>Microsoft Office PowerPoint</Application>
  <PresentationFormat>Panorámica</PresentationFormat>
  <Paragraphs>71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Lato</vt:lpstr>
      <vt:lpstr>Raleway</vt:lpstr>
      <vt:lpstr>Tema de Office</vt:lpstr>
      <vt:lpstr>Antonio template</vt:lpstr>
      <vt:lpstr>Monitorización: Icinga &amp; PandoraFMS  TG2</vt:lpstr>
      <vt:lpstr>¡Hola!</vt:lpstr>
      <vt:lpstr>1. Descripción ampliada sobre cada tecnología</vt:lpstr>
      <vt:lpstr> Descripción ampliada sobre Icinga</vt:lpstr>
      <vt:lpstr> Descripción ampliada sobre Icinga</vt:lpstr>
      <vt:lpstr> Descripción ampliada sobre PandoraFMS</vt:lpstr>
      <vt:lpstr> Descripción ampliada sobre PandoraFMS</vt:lpstr>
      <vt:lpstr>LO DE ABAJO NO SIRVE, SOLO LO UTILICE PARA HACER LAS DE ARRIBA</vt:lpstr>
      <vt:lpstr>Fork de Nagios</vt:lpstr>
      <vt:lpstr>Desarrollado por Ártica ST</vt:lpstr>
      <vt:lpstr>¿Qué puede ofrecer Icinga?</vt:lpstr>
      <vt:lpstr>Multitud de funcionalidades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Monitorización: Icinga &amp; PandoraFMS  TG2</dc:title>
  <dc:creator>Sergio Martín Miguez</dc:creator>
  <cp:lastModifiedBy>Sergio Martín Miguez</cp:lastModifiedBy>
  <cp:revision>15</cp:revision>
  <dcterms:created xsi:type="dcterms:W3CDTF">2017-03-31T09:15:09Z</dcterms:created>
  <dcterms:modified xsi:type="dcterms:W3CDTF">2017-03-31T20:03:33Z</dcterms:modified>
</cp:coreProperties>
</file>