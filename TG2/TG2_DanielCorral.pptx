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7"/>
  </p:notesMasterIdLst>
  <p:sldIdLst>
    <p:sldId id="256" r:id="rId3"/>
    <p:sldId id="268" r:id="rId4"/>
    <p:sldId id="258" r:id="rId5"/>
    <p:sldId id="26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83661-B3EA-4B39-BAF1-28720FD69EC1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71750-F6C3-41EB-A930-59A0FF2393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652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244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83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440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186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4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22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59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37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41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786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79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84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28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990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41764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33271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01912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27971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119150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562594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0" name="Shape 40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1" name="Shape 41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2" name="Shape 42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370960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91600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4515204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3"/>
          </p:nvPr>
        </p:nvSpPr>
        <p:spPr>
          <a:xfrm>
            <a:off x="7838809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9" name="Shape 49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0" name="Shape 50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1" name="Shape 51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63029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5" name="Shape 55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6" name="Shape 56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7" name="Shape 57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387005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1191600" y="6199950"/>
            <a:ext cx="8616800" cy="4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360"/>
              </a:spcBef>
              <a:buClr>
                <a:srgbClr val="2185C5"/>
              </a:buClr>
              <a:buSzPct val="100000"/>
              <a:buNone/>
              <a:defRPr sz="1400">
                <a:solidFill>
                  <a:srgbClr val="2185C5"/>
                </a:solidFill>
              </a:defRPr>
            </a:lvl1pPr>
          </a:lstStyle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1" name="Shape 6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2" name="Shape 6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3" name="Shape 6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02249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6" name="Shape 66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7" name="Shape 67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8" name="Shape 68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31432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color background">
    <p:bg>
      <p:bgPr>
        <a:solidFill>
          <a:srgbClr val="2185C5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1" name="Shape 7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2" name="Shape 7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3" name="Shape 7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364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8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91600" y="1831451"/>
            <a:ext cx="8616800" cy="473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677480"/>
              </a:buClr>
              <a:buSzPct val="100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91425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ctrTitle"/>
          </p:nvPr>
        </p:nvSpPr>
        <p:spPr>
          <a:xfrm>
            <a:off x="2245425" y="3785246"/>
            <a:ext cx="7522923" cy="15465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/>
              <a:t>Monitorización:</a:t>
            </a:r>
            <a:br>
              <a:rPr lang="es-ES" dirty="0"/>
            </a:br>
            <a:r>
              <a:rPr lang="es-ES" dirty="0" err="1"/>
              <a:t>Icinga</a:t>
            </a:r>
            <a:r>
              <a:rPr lang="es-ES" dirty="0"/>
              <a:t> &amp; </a:t>
            </a:r>
            <a:r>
              <a:rPr lang="es-ES" dirty="0" err="1"/>
              <a:t>PandoraFMS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TG2</a:t>
            </a:r>
            <a:endParaRPr lang="en" dirty="0"/>
          </a:p>
        </p:txBody>
      </p:sp>
      <p:pic>
        <p:nvPicPr>
          <p:cNvPr id="1026" name="Picture 2" descr="Icin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6140014"/>
            <a:ext cx="1790879" cy="65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718" y="5777294"/>
            <a:ext cx="1365063" cy="1013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776" y="469131"/>
            <a:ext cx="2537882" cy="7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ctrTitle" idx="4294967295"/>
          </p:nvPr>
        </p:nvSpPr>
        <p:spPr>
          <a:xfrm>
            <a:off x="2440025" y="587125"/>
            <a:ext cx="55611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n" sz="6000" dirty="0">
                <a:solidFill>
                  <a:srgbClr val="7ECEFD"/>
                </a:solidFill>
              </a:rPr>
              <a:t>¡H</a:t>
            </a:r>
            <a:r>
              <a:rPr lang="es-ES" sz="6000" dirty="0">
                <a:solidFill>
                  <a:srgbClr val="7ECEFD"/>
                </a:solidFill>
              </a:rPr>
              <a:t>ola</a:t>
            </a:r>
            <a:r>
              <a:rPr lang="en" sz="6000" dirty="0">
                <a:solidFill>
                  <a:srgbClr val="7ECEFD"/>
                </a:solidFill>
              </a:rPr>
              <a:t>!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subTitle" idx="4294967295"/>
          </p:nvPr>
        </p:nvSpPr>
        <p:spPr>
          <a:xfrm>
            <a:off x="2440025" y="1957950"/>
            <a:ext cx="55611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4800" b="1" dirty="0">
                <a:solidFill>
                  <a:srgbClr val="2185C5"/>
                </a:solidFill>
              </a:rPr>
              <a:t>Somos el grupo 6</a:t>
            </a:r>
            <a:endParaRPr lang="en" sz="4800" b="1" dirty="0">
              <a:solidFill>
                <a:srgbClr val="2185C5"/>
              </a:solidFill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body" idx="4294967295"/>
          </p:nvPr>
        </p:nvSpPr>
        <p:spPr>
          <a:xfrm>
            <a:off x="2440025" y="3297675"/>
            <a:ext cx="5561100" cy="2660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Integrantes del grupo</a:t>
            </a:r>
            <a:r>
              <a:rPr lang="en" sz="2400" dirty="0"/>
              <a:t>:</a:t>
            </a:r>
          </a:p>
          <a:p>
            <a:pPr>
              <a:spcBef>
                <a:spcPts val="0"/>
              </a:spcBef>
              <a:buNone/>
            </a:pPr>
            <a:endParaRPr lang="en" sz="2400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Sergio Martín Míguez (</a:t>
            </a:r>
            <a:r>
              <a:rPr lang="es-ES" dirty="0"/>
              <a:t>Coordinador</a:t>
            </a:r>
            <a:r>
              <a:rPr lang="en" dirty="0"/>
              <a:t>)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Iv</a:t>
            </a:r>
            <a:r>
              <a:rPr lang="es-ES" dirty="0"/>
              <a:t>án Alejandro </a:t>
            </a:r>
            <a:r>
              <a:rPr lang="es-ES" dirty="0" err="1"/>
              <a:t>Marugán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Daniel Corral García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Juan Felipe Martín </a:t>
            </a:r>
            <a:r>
              <a:rPr lang="es-ES" dirty="0" err="1"/>
              <a:t>Martín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Silvia del Valle Recio 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1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76424" r="7015"/>
          <a:stretch/>
        </p:blipFill>
        <p:spPr>
          <a:xfrm>
            <a:off x="10400501" y="0"/>
            <a:ext cx="1791499" cy="67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3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5.</a:t>
            </a:r>
          </a:p>
          <a:p>
            <a:r>
              <a:rPr lang="es-ES" dirty="0"/>
              <a:t>Comparación de las tecnologías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5335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474940"/>
              </p:ext>
            </p:extLst>
          </p:nvPr>
        </p:nvGraphicFramePr>
        <p:xfrm>
          <a:off x="110836" y="83127"/>
          <a:ext cx="11942620" cy="66877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5894">
                  <a:extLst>
                    <a:ext uri="{9D8B030D-6E8A-4147-A177-3AD203B41FA5}">
                      <a16:colId xmlns:a16="http://schemas.microsoft.com/office/drawing/2014/main" val="3971768056"/>
                    </a:ext>
                  </a:extLst>
                </a:gridCol>
                <a:gridCol w="1693281">
                  <a:extLst>
                    <a:ext uri="{9D8B030D-6E8A-4147-A177-3AD203B41FA5}">
                      <a16:colId xmlns:a16="http://schemas.microsoft.com/office/drawing/2014/main" val="4254072328"/>
                    </a:ext>
                  </a:extLst>
                </a:gridCol>
                <a:gridCol w="1607064">
                  <a:extLst>
                    <a:ext uri="{9D8B030D-6E8A-4147-A177-3AD203B41FA5}">
                      <a16:colId xmlns:a16="http://schemas.microsoft.com/office/drawing/2014/main" val="2390358060"/>
                    </a:ext>
                  </a:extLst>
                </a:gridCol>
                <a:gridCol w="6106381">
                  <a:extLst>
                    <a:ext uri="{9D8B030D-6E8A-4147-A177-3AD203B41FA5}">
                      <a16:colId xmlns:a16="http://schemas.microsoft.com/office/drawing/2014/main" val="3868499821"/>
                    </a:ext>
                  </a:extLst>
                </a:gridCol>
              </a:tblGrid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CRITERIOS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PandoraFMS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Icinga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COMENTARIOS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942839299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Autor de la herramienta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Ártica ST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Team Icinga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353575968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Competitividad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6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2012712946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Contacto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10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6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Pandora ofrece soporte 24/7 mientras que Icinga no.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4192240351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Soporte técnico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Es más completa en Icinga, incluyendo control remoto.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243389440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Material de apoyo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Documentación, webinars, etc.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748594606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Open Source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Ambas son Open Source.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86659909"/>
                  </a:ext>
                </a:extLst>
              </a:tr>
              <a:tr h="51830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Lenguaje de programación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PHP, PERL, JavaScript, C++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PHP, Bash, C++, Perl, Ruby, Python, C#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Lenguajes de programación compatibles.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808984798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Versatilidad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Ambas pueden implementar diferentes módulos.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557663414"/>
                  </a:ext>
                </a:extLst>
              </a:tr>
              <a:tr h="121521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Multiplataforma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Windows, RedHat, CentOS, Debian, Ubuntu, SLES y OpenSUSE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Debian, Ubuntu, CentOS, Fedora, SLES, OpenSUSE, ArchLinux, Gentoo, FreeBSD, OpenBSD, AlpineLinux, Windows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Hay mayor multiplataforma con </a:t>
                      </a:r>
                      <a:r>
                        <a:rPr lang="es-ES" sz="1100" dirty="0" err="1">
                          <a:effectLst/>
                        </a:rPr>
                        <a:t>Icinga</a:t>
                      </a:r>
                      <a:r>
                        <a:rPr lang="es-ES" sz="1100" dirty="0">
                          <a:effectLst/>
                        </a:rPr>
                        <a:t>.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764780551"/>
                  </a:ext>
                </a:extLst>
              </a:tr>
              <a:tr h="25730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Instalación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En GNU/Linux son repositorios o paquetes .deb, mientras que en Windows son ejecutables .exe.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209780594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Configuración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2933018067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Almacenamiento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34MB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20MB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507296557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Consumo de recursos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110580809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Usabilidad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Desde nuestra experiencia propia.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2088079767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Aprendizaje 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Desde nuestra experiencia propia.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622125236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Actualizaciones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Ambos disponen de actualizaciones.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372076588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Ciclo de vida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2 años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0 años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2762342407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Seguridad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Cada una implementa diferentes medidas de seguridad.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052203334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Módulos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Pandora sí que permite la opción de crear módulos personalizados.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256450579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Grupos de servidores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623330179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Grupos de servicios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676141837"/>
                  </a:ext>
                </a:extLst>
              </a:tr>
              <a:tr h="25730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Roles de usuario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Ambas permiten la creación de diferentes roles de usuario con permisos personalizados.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3105328566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Alertas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637518231"/>
                  </a:ext>
                </a:extLst>
              </a:tr>
              <a:tr h="51830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Cliente móvil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 (Android, iOS, Chrome, Windows, OSX)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994662181"/>
                  </a:ext>
                </a:extLst>
              </a:tr>
              <a:tr h="2569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Coste de producto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Gratuito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Gratuito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Icinga tiene versión gratuita y PandoraFMS tiene diferentes planes de pago.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2122961435"/>
                  </a:ext>
                </a:extLst>
              </a:tr>
              <a:tr h="1744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Coste de licencia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(Anexo)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/>
                </a:tc>
                <a:extLst>
                  <a:ext uri="{0D108BD9-81ED-4DB2-BD59-A6C34878D82A}">
                    <a16:rowId xmlns:a16="http://schemas.microsoft.com/office/drawing/2014/main" val="173386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1624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343</Words>
  <Application>Microsoft Office PowerPoint</Application>
  <PresentationFormat>Panorámica</PresentationFormat>
  <Paragraphs>120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Raleway</vt:lpstr>
      <vt:lpstr>Times New Roman</vt:lpstr>
      <vt:lpstr>Tema de Office</vt:lpstr>
      <vt:lpstr>Antonio template</vt:lpstr>
      <vt:lpstr>Monitorización: Icinga &amp; PandoraFMS  TG2</vt:lpstr>
      <vt:lpstr>¡Hola!</vt:lpstr>
      <vt:lpstr>5. Comparación de las tecnologías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Monitorización: Icinga &amp; PandoraFMS  TG2</dc:title>
  <dc:creator>Sergio Martín Miguez</dc:creator>
  <cp:lastModifiedBy>Corral García Daniel</cp:lastModifiedBy>
  <cp:revision>19</cp:revision>
  <dcterms:created xsi:type="dcterms:W3CDTF">2017-03-31T09:15:09Z</dcterms:created>
  <dcterms:modified xsi:type="dcterms:W3CDTF">2017-04-02T17:02:23Z</dcterms:modified>
</cp:coreProperties>
</file>