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9"/>
  </p:notesMasterIdLst>
  <p:sldIdLst>
    <p:sldId id="256" r:id="rId3"/>
    <p:sldId id="268" r:id="rId4"/>
    <p:sldId id="258" r:id="rId5"/>
    <p:sldId id="260" r:id="rId6"/>
    <p:sldId id="269" r:id="rId7"/>
    <p:sldId id="270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83661-B3EA-4B39-BAF1-28720FD69EC1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71750-F6C3-41EB-A930-59A0FF2393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652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244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83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440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742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70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8988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186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41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22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459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37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41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786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879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84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28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990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61901" y="3785246"/>
            <a:ext cx="6955599" cy="1546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7917661" y="3377551"/>
            <a:ext cx="9624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1" name="Shape 11"/>
          <p:cNvSpPr/>
          <p:nvPr/>
        </p:nvSpPr>
        <p:spPr>
          <a:xfrm>
            <a:off x="8879813" y="3377551"/>
            <a:ext cx="9624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2" name="Shape 12"/>
          <p:cNvSpPr/>
          <p:nvPr/>
        </p:nvSpPr>
        <p:spPr>
          <a:xfrm>
            <a:off x="-1" y="3377551"/>
            <a:ext cx="9624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3" name="Shape 13"/>
          <p:cNvSpPr/>
          <p:nvPr/>
        </p:nvSpPr>
        <p:spPr>
          <a:xfrm>
            <a:off x="961899" y="3377551"/>
            <a:ext cx="6955599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41764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4063604" y="5323801"/>
            <a:ext cx="40636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9" name="Shape 19"/>
          <p:cNvSpPr/>
          <p:nvPr/>
        </p:nvSpPr>
        <p:spPr>
          <a:xfrm>
            <a:off x="8128360" y="5323801"/>
            <a:ext cx="40636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0" name="Shape 20"/>
          <p:cNvSpPr/>
          <p:nvPr/>
        </p:nvSpPr>
        <p:spPr>
          <a:xfrm>
            <a:off x="1" y="5323801"/>
            <a:ext cx="40636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733271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61901" y="3785246"/>
            <a:ext cx="6955599" cy="1546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7917661" y="3377551"/>
            <a:ext cx="9624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1" name="Shape 11"/>
          <p:cNvSpPr/>
          <p:nvPr/>
        </p:nvSpPr>
        <p:spPr>
          <a:xfrm>
            <a:off x="8879813" y="3377551"/>
            <a:ext cx="9624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2" name="Shape 12"/>
          <p:cNvSpPr/>
          <p:nvPr/>
        </p:nvSpPr>
        <p:spPr>
          <a:xfrm>
            <a:off x="-1" y="3377551"/>
            <a:ext cx="9624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3" name="Shape 13"/>
          <p:cNvSpPr/>
          <p:nvPr/>
        </p:nvSpPr>
        <p:spPr>
          <a:xfrm>
            <a:off x="961899" y="3377551"/>
            <a:ext cx="6955599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01912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4063604" y="5323801"/>
            <a:ext cx="40636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9" name="Shape 19"/>
          <p:cNvSpPr/>
          <p:nvPr/>
        </p:nvSpPr>
        <p:spPr>
          <a:xfrm>
            <a:off x="8128360" y="5323801"/>
            <a:ext cx="40636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0" name="Shape 20"/>
          <p:cNvSpPr/>
          <p:nvPr/>
        </p:nvSpPr>
        <p:spPr>
          <a:xfrm>
            <a:off x="1" y="5323801"/>
            <a:ext cx="40636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27971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1191500" y="1600200"/>
            <a:ext cx="4182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5625940" y="1600200"/>
            <a:ext cx="4182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0" name="Shape 40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1" name="Shape 41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2" name="Shape 42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370960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91600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2"/>
          </p:nvPr>
        </p:nvSpPr>
        <p:spPr>
          <a:xfrm>
            <a:off x="4515204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3"/>
          </p:nvPr>
        </p:nvSpPr>
        <p:spPr>
          <a:xfrm>
            <a:off x="7838809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9" name="Shape 49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0" name="Shape 50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1" name="Shape 51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63029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5" name="Shape 55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6" name="Shape 56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7" name="Shape 57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387005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1191600" y="6199950"/>
            <a:ext cx="8616800" cy="46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360"/>
              </a:spcBef>
              <a:buClr>
                <a:srgbClr val="2185C5"/>
              </a:buClr>
              <a:buSzPct val="100000"/>
              <a:buNone/>
              <a:defRPr sz="1400">
                <a:solidFill>
                  <a:srgbClr val="2185C5"/>
                </a:solidFill>
              </a:defRPr>
            </a:lvl1pPr>
          </a:lstStyle>
          <a:p>
            <a:endParaRPr/>
          </a:p>
        </p:txBody>
      </p:sp>
      <p:sp>
        <p:nvSpPr>
          <p:cNvPr id="60" name="Shape 60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1" name="Shape 61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2" name="Shape 62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3" name="Shape 63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02249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6" name="Shape 66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7" name="Shape 67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8" name="Shape 68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31432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color background">
    <p:bg>
      <p:bgPr>
        <a:solidFill>
          <a:srgbClr val="2185C5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1" name="Shape 71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2" name="Shape 72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3" name="Shape 73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364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14B9C-9850-476F-9735-FF3642A58DBA}" type="datetimeFigureOut">
              <a:rPr lang="es-ES" smtClean="0"/>
              <a:t>02/04/2017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8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91600" y="1831451"/>
            <a:ext cx="8616800" cy="473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677480"/>
              </a:buClr>
              <a:buSzPct val="100000"/>
              <a:buFont typeface="Lato"/>
              <a:buChar char="▷"/>
              <a:defRPr sz="30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91425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ctrTitle"/>
          </p:nvPr>
        </p:nvSpPr>
        <p:spPr>
          <a:xfrm>
            <a:off x="2245425" y="3785246"/>
            <a:ext cx="7522923" cy="15465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/>
          <a:p>
            <a:r>
              <a:rPr lang="es-ES" dirty="0"/>
              <a:t>Monitorización:</a:t>
            </a:r>
            <a:br>
              <a:rPr lang="es-ES" dirty="0"/>
            </a:br>
            <a:r>
              <a:rPr lang="es-ES" dirty="0" err="1"/>
              <a:t>Icinga</a:t>
            </a:r>
            <a:r>
              <a:rPr lang="es-ES" dirty="0"/>
              <a:t> &amp; </a:t>
            </a:r>
            <a:r>
              <a:rPr lang="es-ES" dirty="0" err="1"/>
              <a:t>PandoraFMS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TG2</a:t>
            </a:r>
            <a:endParaRPr lang="en" dirty="0"/>
          </a:p>
        </p:txBody>
      </p:sp>
      <p:pic>
        <p:nvPicPr>
          <p:cNvPr id="1026" name="Picture 2" descr="Icing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6140014"/>
            <a:ext cx="1790879" cy="65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718" y="5777294"/>
            <a:ext cx="1365063" cy="10134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776" y="469131"/>
            <a:ext cx="2537882" cy="7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8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ctrTitle" idx="4294967295"/>
          </p:nvPr>
        </p:nvSpPr>
        <p:spPr>
          <a:xfrm>
            <a:off x="2440025" y="587125"/>
            <a:ext cx="55611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n" sz="6000" dirty="0">
                <a:solidFill>
                  <a:srgbClr val="7ECEFD"/>
                </a:solidFill>
              </a:rPr>
              <a:t>¡H</a:t>
            </a:r>
            <a:r>
              <a:rPr lang="es-ES" sz="6000" dirty="0">
                <a:solidFill>
                  <a:srgbClr val="7ECEFD"/>
                </a:solidFill>
              </a:rPr>
              <a:t>ola</a:t>
            </a:r>
            <a:r>
              <a:rPr lang="en" sz="6000" dirty="0">
                <a:solidFill>
                  <a:srgbClr val="7ECEFD"/>
                </a:solidFill>
              </a:rPr>
              <a:t>!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subTitle" idx="4294967295"/>
          </p:nvPr>
        </p:nvSpPr>
        <p:spPr>
          <a:xfrm>
            <a:off x="2440025" y="1957950"/>
            <a:ext cx="5561100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4800" b="1" dirty="0">
                <a:solidFill>
                  <a:srgbClr val="2185C5"/>
                </a:solidFill>
              </a:rPr>
              <a:t>Somos el grupo 6</a:t>
            </a:r>
            <a:endParaRPr lang="en" sz="4800" b="1" dirty="0">
              <a:solidFill>
                <a:srgbClr val="2185C5"/>
              </a:solidFill>
            </a:endParaRPr>
          </a:p>
        </p:txBody>
      </p:sp>
      <p:sp>
        <p:nvSpPr>
          <p:cNvPr id="94" name="Shape 94"/>
          <p:cNvSpPr txBox="1">
            <a:spLocks noGrp="1"/>
          </p:cNvSpPr>
          <p:nvPr>
            <p:ph type="body" idx="4294967295"/>
          </p:nvPr>
        </p:nvSpPr>
        <p:spPr>
          <a:xfrm>
            <a:off x="2440025" y="3297675"/>
            <a:ext cx="5561100" cy="2660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/>
              <a:t>Integrantes del grupo</a:t>
            </a:r>
            <a:r>
              <a:rPr lang="en" sz="2400" dirty="0"/>
              <a:t>:</a:t>
            </a:r>
          </a:p>
          <a:p>
            <a:pPr>
              <a:spcBef>
                <a:spcPts val="0"/>
              </a:spcBef>
              <a:buNone/>
            </a:pPr>
            <a:endParaRPr lang="en" sz="2400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Sergio Martín Míguez (</a:t>
            </a:r>
            <a:r>
              <a:rPr lang="es-ES" dirty="0"/>
              <a:t>Coordinador</a:t>
            </a:r>
            <a:r>
              <a:rPr lang="en" dirty="0"/>
              <a:t>)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Iv</a:t>
            </a:r>
            <a:r>
              <a:rPr lang="es-ES" dirty="0"/>
              <a:t>án Alejandro </a:t>
            </a:r>
            <a:r>
              <a:rPr lang="es-ES" dirty="0" err="1"/>
              <a:t>Marugán</a:t>
            </a:r>
            <a:endParaRPr lang="es-ES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Daniel Corral García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Juan Felipe Martín </a:t>
            </a:r>
            <a:r>
              <a:rPr lang="es-ES" dirty="0" err="1"/>
              <a:t>Martín</a:t>
            </a:r>
            <a:endParaRPr lang="es-ES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Silvia del Valle Recio 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" sz="18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76424" r="7015"/>
          <a:stretch/>
        </p:blipFill>
        <p:spPr>
          <a:xfrm>
            <a:off x="10400501" y="0"/>
            <a:ext cx="1791499" cy="67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3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2209800" y="2111123"/>
            <a:ext cx="7772400" cy="1546500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Autofit/>
          </a:bodyPr>
          <a:lstStyle/>
          <a:p>
            <a:r>
              <a:rPr lang="en" sz="7200" dirty="0">
                <a:solidFill>
                  <a:srgbClr val="7ECEFD"/>
                </a:solidFill>
              </a:rPr>
              <a:t>4.</a:t>
            </a:r>
          </a:p>
          <a:p>
            <a:r>
              <a:rPr lang="es-ES" dirty="0"/>
              <a:t>Evaluación de los criterios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5335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896" y="2402175"/>
            <a:ext cx="2719858" cy="1175912"/>
          </a:xfrm>
          <a:prstGeom prst="rect">
            <a:avLst/>
          </a:prstGeom>
        </p:spPr>
      </p:pic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797904"/>
              </p:ext>
            </p:extLst>
          </p:nvPr>
        </p:nvGraphicFramePr>
        <p:xfrm>
          <a:off x="5687839" y="238538"/>
          <a:ext cx="5377726" cy="6249440"/>
        </p:xfrm>
        <a:graphic>
          <a:graphicData uri="http://schemas.openxmlformats.org/drawingml/2006/table">
            <a:tbl>
              <a:tblPr firstRow="1" firstCol="1" bandRow="1"/>
              <a:tblGrid>
                <a:gridCol w="2688863">
                  <a:extLst>
                    <a:ext uri="{9D8B030D-6E8A-4147-A177-3AD203B41FA5}">
                      <a16:colId xmlns:a16="http://schemas.microsoft.com/office/drawing/2014/main" val="904016943"/>
                    </a:ext>
                  </a:extLst>
                </a:gridCol>
                <a:gridCol w="2688863">
                  <a:extLst>
                    <a:ext uri="{9D8B030D-6E8A-4147-A177-3AD203B41FA5}">
                      <a16:colId xmlns:a16="http://schemas.microsoft.com/office/drawing/2014/main" val="438023908"/>
                    </a:ext>
                  </a:extLst>
                </a:gridCol>
              </a:tblGrid>
              <a:tr h="1952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</a:t>
                      </a:r>
                      <a:endParaRPr lang="es-ES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593019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A: Criterios generales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486506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A.1: Autor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Ethan Galstad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358915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A.2: Competitividad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53128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A.3: Contacto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385648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A.4: Soporte técnico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344030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A.5: Material de apoyo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683741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B: Criterios de Desarrollo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913998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B.1: Open source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634863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B.2: Lenguaje de programación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Bash, C++, Perl, Ruby, Python, PHP, C#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593044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B.3: Versatilidad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5390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C: Criterios Técnicos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920459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C.1: Multiplataforma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Sistemas Windows, sistemas Unix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05968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C.2: Instalación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587924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C.3: Configuración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84780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C.4: Almacenamiento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20MB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26300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C.5: Consumo de recursos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638877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C.6: Usabilidad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35962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C.7: Aprendizaje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335077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C.8: Actualizaciones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809006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C.9: Ciclo de vida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años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456263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C.10: Seguridad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090798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D: Criterios Aplicativos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184512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D.1: Módulos propios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700793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D.2: Grupos de servidores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874206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D.3: Grupos de servicios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80685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D.4: Roles de usuarios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69680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D.5: Alertas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968765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D.6: Cliente móvil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692516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E: Criterios económicos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32059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E.1: Coste de producto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0 €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640926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E.2: Coste de licencia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Anexo 1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3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641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19" y="414349"/>
            <a:ext cx="2260077" cy="977129"/>
          </a:xfrm>
          <a:prstGeom prst="rect">
            <a:avLst/>
          </a:prstGeom>
        </p:spPr>
      </p:pic>
      <p:pic>
        <p:nvPicPr>
          <p:cNvPr id="5" name="Imagen 4"/>
          <p:cNvPicPr/>
          <p:nvPr/>
        </p:nvPicPr>
        <p:blipFill>
          <a:blip r:embed="rId4"/>
          <a:stretch>
            <a:fillRect/>
          </a:stretch>
        </p:blipFill>
        <p:spPr>
          <a:xfrm>
            <a:off x="1569768" y="1774549"/>
            <a:ext cx="9044181" cy="43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8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92" y="2522103"/>
            <a:ext cx="2974310" cy="1082488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730927"/>
              </p:ext>
            </p:extLst>
          </p:nvPr>
        </p:nvGraphicFramePr>
        <p:xfrm>
          <a:off x="5698435" y="212030"/>
          <a:ext cx="5605668" cy="6149024"/>
        </p:xfrm>
        <a:graphic>
          <a:graphicData uri="http://schemas.openxmlformats.org/drawingml/2006/table">
            <a:tbl>
              <a:tblPr firstRow="1" firstCol="1" bandRow="1"/>
              <a:tblGrid>
                <a:gridCol w="2802834">
                  <a:extLst>
                    <a:ext uri="{9D8B030D-6E8A-4147-A177-3AD203B41FA5}">
                      <a16:colId xmlns:a16="http://schemas.microsoft.com/office/drawing/2014/main" val="1602187197"/>
                    </a:ext>
                  </a:extLst>
                </a:gridCol>
                <a:gridCol w="2802834">
                  <a:extLst>
                    <a:ext uri="{9D8B030D-6E8A-4147-A177-3AD203B41FA5}">
                      <a16:colId xmlns:a16="http://schemas.microsoft.com/office/drawing/2014/main" val="3934205334"/>
                    </a:ext>
                  </a:extLst>
                </a:gridCol>
              </a:tblGrid>
              <a:tr h="1921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487294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A: Criterios generales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06309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A.1: Autor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Ártica Soluciones Tecnológicas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1521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A.2: Competitividad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9465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A.3: Contacto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965551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A.4: Soporte técnico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41835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A.5: Material de apoyo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094827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B: Criterios de Desarrollo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07199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B.1: Open source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637312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B.2: Lenguaje de programación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Perl, PHP, C++, Javascript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841802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B.3: Versatilidad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499724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C: Criterios Técnicos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40960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C.1: Multiplataforma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Sistemas Windows, sistemas Unix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260415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C.2: Instalación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93630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C.3: Configuración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4343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C.4: Almacenamiento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34MB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472554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C.5: Consumo de recursos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3661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C.6: Usabilidad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4556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C.7: Aprendizaje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90827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C.8: Actualizaciones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489036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C.9: Ciclo de vida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años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668325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C.10: Seguridad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809059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D: Criterios Aplicativos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277286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D.1: Módulos propios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031912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D.2: Grupos de servidores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418211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D.3: Grupos de servicios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704904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D.4: Roles de usuarios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642938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D.5: Alertas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568875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D.6: Cliente móvil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469473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E: Criterios económicos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96107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E.1: Coste de producto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0 €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270655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E.2: Coste de licencia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0 €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335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7095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nton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437</Words>
  <Application>Microsoft Office PowerPoint</Application>
  <PresentationFormat>Panorámica</PresentationFormat>
  <Paragraphs>130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Raleway</vt:lpstr>
      <vt:lpstr>Times New Roman</vt:lpstr>
      <vt:lpstr>Tema de Office</vt:lpstr>
      <vt:lpstr>Antonio template</vt:lpstr>
      <vt:lpstr>Monitorización: Icinga &amp; PandoraFMS  TG2</vt:lpstr>
      <vt:lpstr>¡Hola!</vt:lpstr>
      <vt:lpstr>4. Evaluación de los criterios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Monitorización: Icinga &amp; PandoraFMS  TG2</dc:title>
  <dc:creator>Sergio Martín Miguez</dc:creator>
  <cp:lastModifiedBy>Martín Martín Juan Felipe</cp:lastModifiedBy>
  <cp:revision>18</cp:revision>
  <dcterms:created xsi:type="dcterms:W3CDTF">2017-03-31T09:15:09Z</dcterms:created>
  <dcterms:modified xsi:type="dcterms:W3CDTF">2017-04-02T09:56:24Z</dcterms:modified>
</cp:coreProperties>
</file>